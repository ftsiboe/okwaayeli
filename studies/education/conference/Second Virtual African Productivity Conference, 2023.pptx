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2" r:id="rId4"/>
    <p:sldId id="263" r:id="rId5"/>
    <p:sldId id="264" r:id="rId6"/>
    <p:sldId id="268" r:id="rId7"/>
    <p:sldId id="275" r:id="rId8"/>
    <p:sldId id="265" r:id="rId9"/>
    <p:sldId id="267" r:id="rId10"/>
    <p:sldId id="269" r:id="rId11"/>
    <p:sldId id="276" r:id="rId12"/>
    <p:sldId id="271" r:id="rId13"/>
    <p:sldId id="261" r:id="rId14"/>
    <p:sldId id="27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5597" autoAdjust="0"/>
  </p:normalViewPr>
  <p:slideViewPr>
    <p:cSldViewPr snapToGrid="0">
      <p:cViewPr varScale="1">
        <p:scale>
          <a:sx n="90" d="100"/>
          <a:sy n="90" d="100"/>
        </p:scale>
        <p:origin x="3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640C0-E812-46C2-B662-1DCB4984FF1F}" type="datetimeFigureOut">
              <a:rPr lang="en-GB" smtClean="0"/>
              <a:t>13/12/2023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24273-AA4C-4CBE-A415-695B3341BC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536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24273-AA4C-4CBE-A415-695B3341BC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89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those who have adopted some of these technologies are not</a:t>
            </a:r>
            <a:r>
              <a:rPr lang="en-US" baseline="0" dirty="0" smtClean="0"/>
              <a:t> making the most use of them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24273-AA4C-4CBE-A415-695B3341BC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819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24273-AA4C-4CBE-A415-695B3341BC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58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32BB3-5227-4BF9-B80D-A5538E5409B3}" type="datetime1">
              <a:rPr lang="en-GB" smtClean="0"/>
              <a:t>13/12/2023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1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DF59-0D20-4D02-B663-152CE7BD58CD}" type="datetime1">
              <a:rPr lang="en-GB" smtClean="0"/>
              <a:t>13/12/2023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78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4A9D1-E23A-48F9-90A6-CB33D73C7158}" type="datetime1">
              <a:rPr lang="en-GB" smtClean="0"/>
              <a:t>13/12/2023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50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5C8F-F1A6-445E-AED4-D8318A82A2F5}" type="datetime1">
              <a:rPr lang="en-GB" smtClean="0"/>
              <a:t>13/12/2023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07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7DC2-F0CB-4F79-9D4A-C4C433B0F9DD}" type="datetime1">
              <a:rPr lang="en-GB" smtClean="0"/>
              <a:t>13/12/2023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80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A4CC0-C41D-4313-920A-F64E616ADDEF}" type="datetime1">
              <a:rPr lang="en-GB" smtClean="0"/>
              <a:t>13/12/2023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47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10FC-C562-4CD0-9938-41D8AAA898B5}" type="datetime1">
              <a:rPr lang="en-GB" smtClean="0"/>
              <a:t>13/12/2023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48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AF01-93E2-4F6B-BB44-D46DAA0CBA64}" type="datetime1">
              <a:rPr lang="en-GB" smtClean="0"/>
              <a:t>13/12/2023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79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56DE-7073-4BC4-83A1-F303C45ECF81}" type="datetime1">
              <a:rPr lang="en-GB" smtClean="0"/>
              <a:t>13/12/2023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5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9FBB-0208-4AD4-A749-E80E2DD4E67D}" type="datetime1">
              <a:rPr lang="en-GB" smtClean="0"/>
              <a:t>13/12/2023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83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D323-84A4-46DB-B0F6-6804F3A001F0}" type="datetime1">
              <a:rPr lang="en-GB" smtClean="0"/>
              <a:t>13/12/2023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6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A61A-DAC8-4963-875B-335753FEF9B1}" type="datetime1">
              <a:rPr lang="en-GB" smtClean="0"/>
              <a:t>13/12/2023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12EC7-D0D6-419A-ADD9-D66CC920F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26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612" y="204757"/>
            <a:ext cx="11920151" cy="1734113"/>
          </a:xfrm>
        </p:spPr>
        <p:txBody>
          <a:bodyPr>
            <a:normAutofit fontScale="90000"/>
          </a:bodyPr>
          <a:lstStyle/>
          <a:p>
            <a:r>
              <a:rPr lang="en-GB" sz="4000" b="1" dirty="0" smtClean="0"/>
              <a:t/>
            </a:r>
            <a:br>
              <a:rPr lang="en-GB" sz="4000" b="1" dirty="0" smtClean="0"/>
            </a:br>
            <a:r>
              <a:rPr lang="en-GB" sz="4000" b="1" dirty="0"/>
              <a:t/>
            </a:r>
            <a:br>
              <a:rPr lang="en-GB" sz="4000" b="1" dirty="0"/>
            </a:br>
            <a:r>
              <a:rPr lang="en-GB" sz="4000" b="1" dirty="0" smtClean="0">
                <a:latin typeface="+mn-lt"/>
              </a:rPr>
              <a:t>Farmer education, farm efficiency and agricultural productivity in Ghana: Is there a nexus?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757" y="1573818"/>
            <a:ext cx="8872151" cy="3599321"/>
          </a:xfrm>
        </p:spPr>
        <p:txBody>
          <a:bodyPr>
            <a:noAutofit/>
          </a:bodyPr>
          <a:lstStyle/>
          <a:p>
            <a:r>
              <a:rPr lang="en-GB" dirty="0"/>
              <a:t>Jacob </a:t>
            </a:r>
            <a:r>
              <a:rPr lang="en-GB" dirty="0" smtClean="0"/>
              <a:t>Asravor</a:t>
            </a:r>
            <a:r>
              <a:rPr lang="en-GB" baseline="30000" dirty="0" smtClean="0"/>
              <a:t>1</a:t>
            </a:r>
            <a:r>
              <a:rPr lang="en-GB" dirty="0" smtClean="0"/>
              <a:t>, </a:t>
            </a:r>
            <a:r>
              <a:rPr lang="en-GB" dirty="0"/>
              <a:t>Francis </a:t>
            </a:r>
            <a:r>
              <a:rPr lang="en-GB" dirty="0" smtClean="0"/>
              <a:t>Tsiboe</a:t>
            </a:r>
            <a:r>
              <a:rPr lang="en-US" baseline="30000" dirty="0" smtClean="0"/>
              <a:t>2</a:t>
            </a:r>
            <a:r>
              <a:rPr lang="en-GB" dirty="0" smtClean="0"/>
              <a:t>, Mark Appiah-Twumasi</a:t>
            </a:r>
            <a:r>
              <a:rPr lang="en-US" baseline="30000" dirty="0" smtClean="0"/>
              <a:t>3</a:t>
            </a:r>
            <a:r>
              <a:rPr lang="en-GB" dirty="0" smtClean="0"/>
              <a:t>, Emmanuel Donkor</a:t>
            </a:r>
            <a:r>
              <a:rPr lang="en-US" baseline="30000" dirty="0" smtClean="0"/>
              <a:t>4</a:t>
            </a:r>
            <a:r>
              <a:rPr lang="en-GB" dirty="0" smtClean="0"/>
              <a:t>, Ernestina Wiafe</a:t>
            </a:r>
            <a:r>
              <a:rPr lang="en-US" baseline="30000" dirty="0" smtClean="0"/>
              <a:t>5</a:t>
            </a:r>
            <a:r>
              <a:rPr lang="en-GB" dirty="0" smtClean="0"/>
              <a:t>, Victor Owusu</a:t>
            </a:r>
            <a:r>
              <a:rPr lang="en-US" baseline="30000" dirty="0"/>
              <a:t>6</a:t>
            </a:r>
            <a:endParaRPr lang="en-US" baseline="30000" dirty="0" smtClean="0"/>
          </a:p>
          <a:p>
            <a:endParaRPr lang="en-GB" sz="1000" dirty="0"/>
          </a:p>
          <a:p>
            <a:r>
              <a:rPr lang="en-GB" sz="1800" baseline="30000" dirty="0" smtClean="0"/>
              <a:t>1 </a:t>
            </a:r>
            <a:r>
              <a:rPr lang="en-GB" sz="1800" dirty="0"/>
              <a:t>Hans-Ruthenberg-Institute (490a), University of Hohenheim, Germany</a:t>
            </a:r>
          </a:p>
          <a:p>
            <a:r>
              <a:rPr lang="en-GB" sz="1800" baseline="30000" dirty="0" smtClean="0"/>
              <a:t>2</a:t>
            </a:r>
            <a:r>
              <a:rPr lang="en-GB" sz="2000" baseline="30000" dirty="0" smtClean="0"/>
              <a:t> </a:t>
            </a:r>
            <a:r>
              <a:rPr lang="en-GB" sz="1800" dirty="0" smtClean="0"/>
              <a:t>USDA, </a:t>
            </a:r>
            <a:r>
              <a:rPr lang="en-GB" sz="1800" dirty="0"/>
              <a:t>Economic Research Service, Kansas City, MO, United States of America </a:t>
            </a:r>
            <a:endParaRPr lang="en-GB" sz="1800" dirty="0" smtClean="0"/>
          </a:p>
          <a:p>
            <a:r>
              <a:rPr lang="en-GB" sz="1800" baseline="30000" dirty="0" smtClean="0"/>
              <a:t>3 </a:t>
            </a:r>
            <a:r>
              <a:rPr lang="en-GB" sz="1800" dirty="0" smtClean="0"/>
              <a:t>University for Development Studies, Ghana</a:t>
            </a:r>
            <a:r>
              <a:rPr lang="en-GB" sz="1800" dirty="0"/>
              <a:t> </a:t>
            </a:r>
          </a:p>
          <a:p>
            <a:r>
              <a:rPr lang="en-US" sz="1800" baseline="30000" dirty="0" smtClean="0"/>
              <a:t>4</a:t>
            </a:r>
            <a:r>
              <a:rPr lang="en-GB" sz="1800" baseline="30000" dirty="0" smtClean="0"/>
              <a:t> </a:t>
            </a:r>
            <a:r>
              <a:rPr lang="en-GB" sz="1800" dirty="0"/>
              <a:t>Justus-Liebig-Universität </a:t>
            </a:r>
            <a:r>
              <a:rPr lang="en-GB" sz="1800" dirty="0" smtClean="0"/>
              <a:t>Giessen, Germany</a:t>
            </a:r>
          </a:p>
          <a:p>
            <a:r>
              <a:rPr lang="en-US" sz="1800" baseline="30000" dirty="0" smtClean="0"/>
              <a:t>5</a:t>
            </a:r>
            <a:r>
              <a:rPr lang="en-GB" sz="1800" baseline="30000" dirty="0" smtClean="0"/>
              <a:t> </a:t>
            </a:r>
            <a:r>
              <a:rPr lang="en-GB" sz="1800" dirty="0" smtClean="0"/>
              <a:t>College of Education, Kansas State University, United States of America</a:t>
            </a:r>
            <a:endParaRPr lang="en-GB" sz="1800" dirty="0"/>
          </a:p>
          <a:p>
            <a:r>
              <a:rPr lang="en-GB" sz="1800" baseline="30000" dirty="0" smtClean="0"/>
              <a:t>6 </a:t>
            </a:r>
            <a:r>
              <a:rPr lang="en-GB" sz="1800" dirty="0" smtClean="0"/>
              <a:t>Kwame Nkrumah University of Science and Technology, Ghana</a:t>
            </a:r>
            <a:endParaRPr lang="en-GB" sz="1800" dirty="0"/>
          </a:p>
          <a:p>
            <a:pPr>
              <a:defRPr/>
            </a:pPr>
            <a:endParaRPr lang="en-GB" sz="800" dirty="0" smtClean="0"/>
          </a:p>
          <a:p>
            <a:pPr>
              <a:defRPr/>
            </a:pPr>
            <a:r>
              <a:rPr lang="en-GB" dirty="0" smtClean="0"/>
              <a:t>vAPW2023:</a:t>
            </a:r>
            <a:r>
              <a:rPr lang="en-GB" dirty="0" smtClean="0">
                <a:cs typeface="Times New Roman" pitchFamily="18" charset="0"/>
              </a:rPr>
              <a:t> Virtual African Productivity Conference</a:t>
            </a:r>
          </a:p>
          <a:p>
            <a:r>
              <a:rPr lang="en-GB" dirty="0" smtClean="0"/>
              <a:t>December 14 - 16, 2023</a:t>
            </a:r>
            <a:r>
              <a:rPr lang="en-GB" dirty="0" smtClean="0">
                <a:cs typeface="Times New Roman" pitchFamily="18" charset="0"/>
              </a:rPr>
              <a:t>, </a:t>
            </a:r>
            <a:r>
              <a:rPr lang="en-GB" dirty="0" smtClean="0">
                <a:effectLst/>
              </a:rPr>
              <a:t>Jönköping University, Sweden</a:t>
            </a:r>
          </a:p>
          <a:p>
            <a:endParaRPr lang="en-GB" sz="1000" dirty="0" smtClean="0"/>
          </a:p>
          <a:p>
            <a:r>
              <a:rPr lang="en-GB" sz="1600" dirty="0"/>
              <a:t>T</a:t>
            </a:r>
            <a:r>
              <a:rPr lang="en-GB" sz="1600" dirty="0" smtClean="0"/>
              <a:t>he </a:t>
            </a:r>
            <a:r>
              <a:rPr lang="en-GB" sz="1600" dirty="0"/>
              <a:t>findings and conclusions </a:t>
            </a:r>
            <a:r>
              <a:rPr lang="en-GB" sz="1600" dirty="0" smtClean="0"/>
              <a:t>of this study </a:t>
            </a:r>
            <a:r>
              <a:rPr lang="en-GB" sz="1600" dirty="0"/>
              <a:t>are those of the authors and should not be construed to represent any official USDA or U.S. Government determination or policy.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602" y="5815261"/>
            <a:ext cx="2269066" cy="365125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15/12/2023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612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9952"/>
            <a:ext cx="10515600" cy="73219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+mn-lt"/>
                <a:cs typeface="Times New Roman" pitchFamily="18" charset="0"/>
              </a:rPr>
              <a:t>Outline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9329"/>
            <a:ext cx="10515600" cy="4537633"/>
          </a:xfrm>
        </p:spPr>
        <p:txBody>
          <a:bodyPr/>
          <a:lstStyle/>
          <a:p>
            <a:pPr>
              <a:defRPr/>
            </a:pPr>
            <a:r>
              <a:rPr lang="en-US" sz="3200" dirty="0" smtClean="0">
                <a:cs typeface="Times New Roman" pitchFamily="18" charset="0"/>
              </a:rPr>
              <a:t>Background</a:t>
            </a:r>
            <a:endParaRPr lang="en-US" sz="3200" dirty="0">
              <a:cs typeface="Times New Roman" pitchFamily="18" charset="0"/>
            </a:endParaRPr>
          </a:p>
          <a:p>
            <a:pPr>
              <a:defRPr/>
            </a:pPr>
            <a:r>
              <a:rPr lang="en-US" sz="3200" dirty="0" smtClean="0">
                <a:cs typeface="Times New Roman" pitchFamily="18" charset="0"/>
              </a:rPr>
              <a:t>Dataset</a:t>
            </a:r>
          </a:p>
          <a:p>
            <a:pPr>
              <a:defRPr/>
            </a:pPr>
            <a:r>
              <a:rPr lang="en-US" sz="3200" dirty="0" smtClean="0">
                <a:cs typeface="Times New Roman" pitchFamily="18" charset="0"/>
              </a:rPr>
              <a:t>Research </a:t>
            </a:r>
            <a:r>
              <a:rPr lang="en-US" sz="3200" dirty="0">
                <a:cs typeface="Times New Roman" pitchFamily="18" charset="0"/>
              </a:rPr>
              <a:t>Methodology</a:t>
            </a:r>
          </a:p>
          <a:p>
            <a:pPr>
              <a:defRPr/>
            </a:pPr>
            <a:r>
              <a:rPr lang="en-US" sz="3200" dirty="0" smtClean="0">
                <a:cs typeface="Times New Roman" pitchFamily="18" charset="0"/>
              </a:rPr>
              <a:t>Results </a:t>
            </a:r>
            <a:r>
              <a:rPr lang="en-US" sz="3200" dirty="0">
                <a:cs typeface="Times New Roman" pitchFamily="18" charset="0"/>
              </a:rPr>
              <a:t>and Discussion</a:t>
            </a:r>
          </a:p>
          <a:p>
            <a:pPr>
              <a:defRPr/>
            </a:pPr>
            <a:r>
              <a:rPr lang="en-US" sz="3200" dirty="0" smtClean="0">
                <a:cs typeface="Times New Roman" pitchFamily="18" charset="0"/>
              </a:rPr>
              <a:t>Conclusions</a:t>
            </a:r>
            <a:endParaRPr lang="en-US" sz="3200" dirty="0">
              <a:cs typeface="Times New Roman" pitchFamily="18" charset="0"/>
            </a:endParaRPr>
          </a:p>
          <a:p>
            <a:pPr>
              <a:defRPr/>
            </a:pPr>
            <a:r>
              <a:rPr lang="en-US" sz="3200" dirty="0">
                <a:cs typeface="Times New Roman" pitchFamily="18" charset="0"/>
              </a:rPr>
              <a:t>References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34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78"/>
            <a:ext cx="10515600" cy="70021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  <a:cs typeface="Times New Roman" pitchFamily="18" charset="0"/>
              </a:rPr>
              <a:t>Background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68" y="858010"/>
            <a:ext cx="7484880" cy="602835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Most of the population growth until 2100 is expected to take place in Africa </a:t>
            </a:r>
            <a:r>
              <a:rPr lang="en-US" sz="2100" dirty="0" smtClean="0"/>
              <a:t>(UN, 2019)</a:t>
            </a:r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dirty="0" smtClean="0"/>
              <a:t>As a result: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500" dirty="0" smtClean="0"/>
              <a:t>Food production must increase by 60-110% to meet demand </a:t>
            </a:r>
            <a:r>
              <a:rPr lang="en-GB" sz="2100" dirty="0"/>
              <a:t>(Lal, 2016; </a:t>
            </a:r>
            <a:r>
              <a:rPr lang="en-GB" sz="2100" dirty="0" smtClean="0"/>
              <a:t>Tilman </a:t>
            </a:r>
            <a:r>
              <a:rPr lang="en-GB" sz="2100" dirty="0"/>
              <a:t>et al., 2011)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Competition for land resources: food production vs. settlement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 smtClean="0"/>
          </a:p>
          <a:p>
            <a:r>
              <a:rPr lang="en-US" dirty="0" smtClean="0"/>
              <a:t>Since 2000, expanded area accounted for 75% of agricultural output growth in Africa </a:t>
            </a:r>
            <a:r>
              <a:rPr lang="en-US" sz="2100" dirty="0" smtClean="0"/>
              <a:t>(</a:t>
            </a:r>
            <a:r>
              <a:rPr lang="en-GB" sz="2100" dirty="0"/>
              <a:t>Jayne &amp; Sanchez, </a:t>
            </a:r>
            <a:r>
              <a:rPr lang="en-GB" sz="2100" dirty="0" smtClean="0"/>
              <a:t>2021)</a:t>
            </a:r>
            <a:endParaRPr lang="en-US" sz="21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Heightened </a:t>
            </a:r>
            <a:r>
              <a:rPr lang="en-US" dirty="0" smtClean="0"/>
              <a:t>climate change impacts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Destruction of the natural resource base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US" sz="1400" dirty="0" smtClean="0"/>
          </a:p>
          <a:p>
            <a:r>
              <a:rPr lang="en-US" dirty="0" smtClean="0"/>
              <a:t>Continued reliance on area expansion has resulted in enormous yield gaps on existing croplands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could raise crop output by 45-70% when exploited </a:t>
            </a:r>
            <a:r>
              <a:rPr lang="en-GB" sz="2100" dirty="0"/>
              <a:t>(Mueller et al., 2012</a:t>
            </a:r>
            <a:r>
              <a:rPr lang="en-GB" sz="2100" dirty="0" smtClean="0"/>
              <a:t>)</a:t>
            </a:r>
            <a:endParaRPr lang="en-US" sz="21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1400" dirty="0" smtClean="0"/>
          </a:p>
          <a:p>
            <a:r>
              <a:rPr lang="en-US" dirty="0" smtClean="0"/>
              <a:t>Thus, sustainable expansion of crop yields on current lands offers an enormous potential for agricultural productivity growth in Africa</a:t>
            </a:r>
            <a:endParaRPr lang="en-US" sz="22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3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256" y="1383971"/>
            <a:ext cx="4355186" cy="4206124"/>
          </a:xfrm>
          <a:prstGeom prst="rect">
            <a:avLst/>
          </a:prstGeom>
        </p:spPr>
      </p:pic>
      <p:sp>
        <p:nvSpPr>
          <p:cNvPr id="7" name="Slide Number Placeholder 4"/>
          <p:cNvSpPr txBox="1">
            <a:spLocks/>
          </p:cNvSpPr>
          <p:nvPr/>
        </p:nvSpPr>
        <p:spPr>
          <a:xfrm>
            <a:off x="7500069" y="5556643"/>
            <a:ext cx="3802929" cy="2314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>
                <a:solidFill>
                  <a:schemeClr val="tx1"/>
                </a:solidFill>
              </a:rPr>
              <a:t>Source: </a:t>
            </a:r>
            <a:r>
              <a:rPr lang="en-GB" dirty="0" err="1" smtClean="0">
                <a:solidFill>
                  <a:schemeClr val="tx1"/>
                </a:solidFill>
              </a:rPr>
              <a:t>Adeyinka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Yusuf/</a:t>
            </a:r>
            <a:r>
              <a:rPr lang="en-GB" dirty="0" err="1">
                <a:solidFill>
                  <a:schemeClr val="tx1"/>
                </a:solidFill>
              </a:rPr>
              <a:t>Anadolu</a:t>
            </a:r>
            <a:r>
              <a:rPr lang="en-GB" dirty="0">
                <a:solidFill>
                  <a:schemeClr val="tx1"/>
                </a:solidFill>
              </a:rPr>
              <a:t> Agency via Getty Images</a:t>
            </a:r>
          </a:p>
        </p:txBody>
      </p:sp>
    </p:spTree>
    <p:extLst>
      <p:ext uri="{BB962C8B-B14F-4D97-AF65-F5344CB8AC3E}">
        <p14:creationId xmlns:p14="http://schemas.microsoft.com/office/powerpoint/2010/main" val="163787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410"/>
            <a:ext cx="10515600" cy="63431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+mn-lt"/>
                <a:cs typeface="Times New Roman" pitchFamily="18" charset="0"/>
              </a:rPr>
              <a:t>Background cont’d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938" y="994442"/>
            <a:ext cx="11425287" cy="570321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Agricultural productivity growth: technology adoption or efficiency improvement </a:t>
            </a:r>
            <a:r>
              <a:rPr lang="en-US" sz="1800" dirty="0" smtClean="0"/>
              <a:t>(</a:t>
            </a:r>
            <a:r>
              <a:rPr lang="en-GB" sz="1800" dirty="0" smtClean="0"/>
              <a:t>Fuglie et al., 2020; </a:t>
            </a:r>
            <a:r>
              <a:rPr lang="en-GB" sz="1800" dirty="0"/>
              <a:t>FAO, 2017</a:t>
            </a:r>
            <a:r>
              <a:rPr lang="en-GB" sz="1800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US" dirty="0" smtClean="0"/>
              <a:t>Evidence indicate that technology adoption continue to be slow in SSA </a:t>
            </a:r>
            <a:r>
              <a:rPr lang="en-US" sz="1800" dirty="0" smtClean="0"/>
              <a:t>(</a:t>
            </a:r>
            <a:r>
              <a:rPr lang="en-GB" sz="1800" dirty="0" smtClean="0"/>
              <a:t>Duflo </a:t>
            </a:r>
            <a:r>
              <a:rPr lang="en-GB" sz="1800" dirty="0"/>
              <a:t>et al., </a:t>
            </a:r>
            <a:r>
              <a:rPr lang="en-GB" sz="1800" dirty="0" smtClean="0"/>
              <a:t>2011; Dzanku </a:t>
            </a:r>
            <a:r>
              <a:rPr lang="en-GB" sz="1800" dirty="0"/>
              <a:t>et al., 2020; Rodenburg et al., </a:t>
            </a:r>
            <a:r>
              <a:rPr lang="en-GB" sz="1800" dirty="0" smtClean="0"/>
              <a:t>2020)</a:t>
            </a:r>
            <a:endParaRPr lang="en-US" sz="18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sz="1200" i="1" dirty="0"/>
          </a:p>
          <a:p>
            <a:pPr algn="just"/>
            <a:r>
              <a:rPr lang="en-US" dirty="0" smtClean="0"/>
              <a:t>Available option is to </a:t>
            </a:r>
            <a:r>
              <a:rPr lang="en-GB" dirty="0"/>
              <a:t>improve the efficiency of use of </a:t>
            </a:r>
            <a:r>
              <a:rPr lang="en-GB" dirty="0" smtClean="0"/>
              <a:t>deployed farm </a:t>
            </a:r>
            <a:r>
              <a:rPr lang="en-GB" dirty="0"/>
              <a:t>resources </a:t>
            </a:r>
            <a:r>
              <a:rPr lang="en-GB" sz="1800" dirty="0"/>
              <a:t>(Jayne </a:t>
            </a:r>
            <a:r>
              <a:rPr lang="en-GB" sz="1800" dirty="0" smtClean="0"/>
              <a:t>&amp; </a:t>
            </a:r>
            <a:r>
              <a:rPr lang="en-GB" sz="1800" dirty="0"/>
              <a:t>Sanchez, 2021</a:t>
            </a:r>
            <a:r>
              <a:rPr lang="en-GB" sz="1800" dirty="0" smtClean="0"/>
              <a:t>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1200" dirty="0"/>
          </a:p>
          <a:p>
            <a:pPr algn="just"/>
            <a:r>
              <a:rPr lang="en-GB" dirty="0" smtClean="0"/>
              <a:t>The efficiency of agricultural production is substantially influenced by human capital </a:t>
            </a:r>
            <a:r>
              <a:rPr lang="en-GB" sz="1800" dirty="0" smtClean="0"/>
              <a:t>(Hoang-</a:t>
            </a:r>
            <a:r>
              <a:rPr lang="en-GB" sz="1800" dirty="0" err="1" smtClean="0"/>
              <a:t>Khac</a:t>
            </a:r>
            <a:r>
              <a:rPr lang="en-GB" sz="1800" dirty="0" smtClean="0"/>
              <a:t> et al., 2021; Qian &amp; </a:t>
            </a:r>
            <a:r>
              <a:rPr lang="en-GB" sz="1800" dirty="0" err="1" smtClean="0"/>
              <a:t>Jie</a:t>
            </a:r>
            <a:r>
              <a:rPr lang="en-GB" sz="1800" dirty="0" smtClean="0"/>
              <a:t>, 2022)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1200" dirty="0" smtClean="0"/>
          </a:p>
          <a:p>
            <a:pPr algn="just"/>
            <a:r>
              <a:rPr lang="en-US" dirty="0" smtClean="0"/>
              <a:t>Education is widely regarded as the most critical form of human capital </a:t>
            </a:r>
            <a:r>
              <a:rPr lang="en-GB" sz="1800" dirty="0" smtClean="0"/>
              <a:t>(Becker, 1993; Huffman</a:t>
            </a:r>
            <a:r>
              <a:rPr lang="en-GB" sz="1800" dirty="0"/>
              <a:t>, 2001; Phillips, 1994)</a:t>
            </a:r>
          </a:p>
          <a:p>
            <a:pPr marL="457200" lvl="1" indent="0" algn="just">
              <a:buNone/>
            </a:pPr>
            <a:endParaRPr lang="en-US" sz="1200" dirty="0"/>
          </a:p>
          <a:p>
            <a:pPr algn="just"/>
            <a:r>
              <a:rPr lang="en-GB" dirty="0" smtClean="0"/>
              <a:t>However, evidence of its impacts </a:t>
            </a:r>
            <a:r>
              <a:rPr lang="en-GB" dirty="0"/>
              <a:t>on farm </a:t>
            </a:r>
            <a:r>
              <a:rPr lang="en-GB" dirty="0" smtClean="0"/>
              <a:t>efficiency and agricultural productivity has been inconclusive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11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870"/>
            <a:ext cx="10515600" cy="601364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+mn-lt"/>
                <a:cs typeface="Times New Roman" pitchFamily="18" charset="0"/>
              </a:rPr>
              <a:t>Background cont’d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333" y="1143006"/>
            <a:ext cx="11573934" cy="5612338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For instance, evidence point to the productivity- and/or efficiency-enhancing impacts of education </a:t>
            </a:r>
            <a:r>
              <a:rPr lang="en-GB" sz="1900" dirty="0" smtClean="0"/>
              <a:t>(Asadullah</a:t>
            </a:r>
            <a:r>
              <a:rPr lang="en-GB" sz="1900" dirty="0" smtClean="0">
                <a:solidFill>
                  <a:srgbClr val="FF0000"/>
                </a:solidFill>
              </a:rPr>
              <a:t> </a:t>
            </a:r>
            <a:r>
              <a:rPr lang="en-GB" sz="1900" dirty="0" smtClean="0"/>
              <a:t>&amp; Rahman, </a:t>
            </a:r>
            <a:r>
              <a:rPr lang="en-GB" sz="1900" dirty="0"/>
              <a:t>2009; </a:t>
            </a:r>
            <a:r>
              <a:rPr lang="en-GB" sz="1900" dirty="0" smtClean="0"/>
              <a:t>Reimers &amp; Klasen, 2013; </a:t>
            </a:r>
            <a:r>
              <a:rPr lang="en-GB" sz="1900" dirty="0"/>
              <a:t>Ninh</a:t>
            </a:r>
            <a:r>
              <a:rPr lang="en-GB" sz="1900" dirty="0" smtClean="0"/>
              <a:t>, 2021; </a:t>
            </a:r>
            <a:r>
              <a:rPr lang="en-GB" sz="1900" dirty="0"/>
              <a:t>Seyoum et al., 1998</a:t>
            </a:r>
            <a:r>
              <a:rPr lang="en-GB" sz="1900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400" dirty="0"/>
          </a:p>
          <a:p>
            <a:r>
              <a:rPr lang="en-GB" dirty="0" smtClean="0"/>
              <a:t>Education has a negative effect on farm efficiency and productivity </a:t>
            </a:r>
            <a:r>
              <a:rPr lang="en-GB" sz="1900" dirty="0" smtClean="0"/>
              <a:t>(</a:t>
            </a:r>
            <a:r>
              <a:rPr lang="en-GB" sz="1900" dirty="0"/>
              <a:t>Hasnah et </a:t>
            </a:r>
            <a:r>
              <a:rPr lang="en-GB" sz="1900" dirty="0" smtClean="0"/>
              <a:t>al., 2004; </a:t>
            </a:r>
            <a:r>
              <a:rPr lang="en-GB" sz="1900" dirty="0"/>
              <a:t>Coelli and Fleming, </a:t>
            </a:r>
            <a:r>
              <a:rPr lang="en-GB" sz="1900" dirty="0" smtClean="0"/>
              <a:t>2004; Ahimbisibwe et al., 2024)</a:t>
            </a:r>
            <a:endParaRPr lang="en-GB" sz="19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400" dirty="0" smtClean="0"/>
          </a:p>
          <a:p>
            <a:r>
              <a:rPr lang="en-GB" dirty="0" smtClean="0"/>
              <a:t>Education has no effect on farm efficiency and productivity </a:t>
            </a:r>
            <a:r>
              <a:rPr lang="en-GB" sz="1900" dirty="0" smtClean="0"/>
              <a:t>(Coelli et al., 2002; Deb, 1995; Wadud </a:t>
            </a:r>
            <a:r>
              <a:rPr lang="en-GB" sz="1900" dirty="0"/>
              <a:t>&amp; White, 2000; Battese &amp;</a:t>
            </a:r>
            <a:r>
              <a:rPr lang="en-GB" sz="1900" dirty="0" smtClean="0"/>
              <a:t> Coelli, 1995) </a:t>
            </a:r>
          </a:p>
          <a:p>
            <a:endParaRPr lang="en-GB" sz="400" dirty="0"/>
          </a:p>
          <a:p>
            <a:r>
              <a:rPr lang="en-US" dirty="0" smtClean="0"/>
              <a:t>Education only have an impact when it comes to the adoption new varieties </a:t>
            </a:r>
            <a:r>
              <a:rPr lang="en-US" sz="1900" dirty="0" smtClean="0"/>
              <a:t>(</a:t>
            </a:r>
            <a:r>
              <a:rPr lang="en-US" sz="1900" dirty="0" err="1" smtClean="0"/>
              <a:t>Azhar</a:t>
            </a:r>
            <a:r>
              <a:rPr lang="en-US" sz="1900" dirty="0" smtClean="0"/>
              <a:t>, 1991)</a:t>
            </a:r>
          </a:p>
          <a:p>
            <a:pPr marL="0" indent="0">
              <a:buNone/>
            </a:pPr>
            <a:endParaRPr lang="en-US" sz="400" dirty="0" smtClean="0"/>
          </a:p>
          <a:p>
            <a:r>
              <a:rPr lang="en-US" dirty="0" smtClean="0"/>
              <a:t>Mixed evidence, either due to how education is measured or the estimation techniques used</a:t>
            </a:r>
          </a:p>
          <a:p>
            <a:endParaRPr lang="en-US" sz="400" dirty="0" smtClean="0"/>
          </a:p>
          <a:p>
            <a:r>
              <a:rPr lang="en-GB" dirty="0" smtClean="0"/>
              <a:t>No </a:t>
            </a:r>
            <a:r>
              <a:rPr lang="en-GB" dirty="0"/>
              <a:t>evidence </a:t>
            </a:r>
            <a:r>
              <a:rPr lang="en-GB" dirty="0" smtClean="0"/>
              <a:t>on </a:t>
            </a:r>
            <a:r>
              <a:rPr lang="en-GB" dirty="0"/>
              <a:t>this interplay i</a:t>
            </a:r>
            <a:r>
              <a:rPr lang="en-GB" dirty="0" smtClean="0"/>
              <a:t>n </a:t>
            </a:r>
            <a:r>
              <a:rPr lang="en-GB" dirty="0"/>
              <a:t>Ghana </a:t>
            </a:r>
            <a:r>
              <a:rPr lang="en-GB" dirty="0" smtClean="0">
                <a:sym typeface="Wingdings" panose="05000000000000000000" pitchFamily="2" charset="2"/>
              </a:rPr>
              <a:t></a:t>
            </a:r>
            <a:r>
              <a:rPr lang="en-GB" dirty="0" smtClean="0"/>
              <a:t> close the gap on this relationship for Ghana, while contributing to the debate on this interplay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5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2177"/>
            <a:ext cx="10515600" cy="61856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+mn-lt"/>
                <a:cs typeface="Times New Roman" pitchFamily="18" charset="0"/>
              </a:rPr>
              <a:t>Dataset</a:t>
            </a:r>
            <a:endParaRPr lang="en-GB" sz="24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267" y="1072945"/>
            <a:ext cx="11328400" cy="5298137"/>
          </a:xfrm>
        </p:spPr>
        <p:txBody>
          <a:bodyPr>
            <a:noAutofit/>
          </a:bodyPr>
          <a:lstStyle/>
          <a:p>
            <a:r>
              <a:rPr lang="en-GB" dirty="0" smtClean="0"/>
              <a:t>Sixth and seventh waves </a:t>
            </a:r>
            <a:r>
              <a:rPr lang="en-GB" dirty="0"/>
              <a:t>of the Ghana </a:t>
            </a:r>
            <a:r>
              <a:rPr lang="en-GB" dirty="0" smtClean="0"/>
              <a:t>Living Standards </a:t>
            </a:r>
            <a:r>
              <a:rPr lang="en-GB" dirty="0"/>
              <a:t>Survey (GLSS</a:t>
            </a:r>
            <a:r>
              <a:rPr lang="en-GB" dirty="0" smtClean="0"/>
              <a:t>), fielded in 2012/13 and 2016/17, respectively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500" dirty="0" smtClean="0"/>
          </a:p>
          <a:p>
            <a:r>
              <a:rPr lang="en-GB" dirty="0"/>
              <a:t>Data were based on nationally representative samples, focusing on the household as the key socio-economic unit to provide insights into living conditions in </a:t>
            </a:r>
            <a:r>
              <a:rPr lang="en-GB" dirty="0" smtClean="0"/>
              <a:t>Ghana</a:t>
            </a:r>
          </a:p>
          <a:p>
            <a:endParaRPr lang="en-GB" sz="500" dirty="0" smtClean="0"/>
          </a:p>
          <a:p>
            <a:r>
              <a:rPr lang="en-GB" dirty="0"/>
              <a:t>D</a:t>
            </a:r>
            <a:r>
              <a:rPr lang="en-GB" dirty="0" smtClean="0"/>
              <a:t>etailed information </a:t>
            </a:r>
            <a:r>
              <a:rPr lang="en-GB" dirty="0"/>
              <a:t>on the demographic characteristics of the households, education, health, employment, migration </a:t>
            </a:r>
            <a:r>
              <a:rPr lang="en-GB" dirty="0" smtClean="0"/>
              <a:t>and </a:t>
            </a:r>
            <a:r>
              <a:rPr lang="en-GB" dirty="0"/>
              <a:t>remittances, </a:t>
            </a:r>
            <a:r>
              <a:rPr lang="en-GB" dirty="0" smtClean="0"/>
              <a:t>agriculture</a:t>
            </a:r>
            <a:r>
              <a:rPr lang="en-GB" dirty="0"/>
              <a:t>, ICT, </a:t>
            </a:r>
            <a:r>
              <a:rPr lang="en-GB" dirty="0" smtClean="0"/>
              <a:t>non-farm enterprises</a:t>
            </a:r>
            <a:r>
              <a:rPr lang="en-GB" dirty="0"/>
              <a:t>, financial services, anthropometry and </a:t>
            </a:r>
            <a:r>
              <a:rPr lang="en-GB" dirty="0" smtClean="0"/>
              <a:t>asset (GSS, 2019) </a:t>
            </a:r>
            <a:endParaRPr lang="en-GB" dirty="0"/>
          </a:p>
          <a:p>
            <a:endParaRPr lang="en-US" sz="500" dirty="0" smtClean="0"/>
          </a:p>
          <a:p>
            <a:r>
              <a:rPr lang="en-US" dirty="0" smtClean="0"/>
              <a:t>A total of </a:t>
            </a:r>
            <a:r>
              <a:rPr lang="en-GB" dirty="0"/>
              <a:t>17,534 farm </a:t>
            </a:r>
            <a:r>
              <a:rPr lang="en-GB" dirty="0" smtClean="0"/>
              <a:t>households were used for the study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35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1918"/>
            <a:ext cx="10515600" cy="486521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  <a:cs typeface="Times New Roman" pitchFamily="18" charset="0"/>
              </a:rPr>
              <a:t>Research</a:t>
            </a:r>
            <a:r>
              <a:rPr lang="en-US" sz="3600" dirty="0">
                <a:latin typeface="+mn-lt"/>
                <a:cs typeface="Times New Roman" pitchFamily="18" charset="0"/>
              </a:rPr>
              <a:t> </a:t>
            </a:r>
            <a:r>
              <a:rPr lang="en-US" sz="3600" b="1" dirty="0">
                <a:latin typeface="+mn-lt"/>
                <a:cs typeface="Times New Roman" pitchFamily="18" charset="0"/>
              </a:rPr>
              <a:t>Methodology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812" y="922867"/>
            <a:ext cx="11134164" cy="5567580"/>
          </a:xfrm>
        </p:spPr>
        <p:txBody>
          <a:bodyPr>
            <a:normAutofit/>
          </a:bodyPr>
          <a:lstStyle/>
          <a:p>
            <a:r>
              <a:rPr lang="en-GB" dirty="0"/>
              <a:t>C</a:t>
            </a:r>
            <a:r>
              <a:rPr lang="en-GB" dirty="0" smtClean="0"/>
              <a:t>ategorise </a:t>
            </a:r>
            <a:r>
              <a:rPr lang="en-GB" dirty="0"/>
              <a:t>farm managers into </a:t>
            </a:r>
            <a:r>
              <a:rPr lang="en-GB" dirty="0" smtClean="0"/>
              <a:t>two groups; attained some form of formal education vs. no formal education</a:t>
            </a:r>
          </a:p>
          <a:p>
            <a:endParaRPr lang="en-GB" sz="1000" dirty="0" smtClean="0"/>
          </a:p>
          <a:p>
            <a:r>
              <a:rPr lang="en-US" dirty="0" smtClean="0"/>
              <a:t>A deeper look into the various levels and components of formal educational attainment</a:t>
            </a:r>
            <a:endParaRPr lang="en-GB" dirty="0" smtClean="0"/>
          </a:p>
          <a:p>
            <a:pPr marL="457200" lvl="1" indent="0">
              <a:buNone/>
            </a:pPr>
            <a:endParaRPr lang="en-US" dirty="0"/>
          </a:p>
          <a:p>
            <a:r>
              <a:rPr lang="en-GB" dirty="0"/>
              <a:t>O</a:t>
            </a:r>
            <a:r>
              <a:rPr lang="en-GB" dirty="0" smtClean="0"/>
              <a:t>ut </a:t>
            </a:r>
            <a:r>
              <a:rPr lang="en-GB" dirty="0"/>
              <a:t>of the 11,340,947 persons engaged in agriculture in Ghana, </a:t>
            </a:r>
            <a:endParaRPr lang="en-GB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GB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GB" dirty="0" smtClean="0"/>
              <a:t>                                                                                                                                  (GSS</a:t>
            </a:r>
            <a:r>
              <a:rPr lang="en-GB" dirty="0"/>
              <a:t>, 2020</a:t>
            </a:r>
            <a:r>
              <a:rPr lang="en-GB" dirty="0" smtClean="0"/>
              <a:t>)</a:t>
            </a:r>
          </a:p>
          <a:p>
            <a:pPr marL="0" indent="0">
              <a:buNone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GB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349553"/>
              </p:ext>
            </p:extLst>
          </p:nvPr>
        </p:nvGraphicFramePr>
        <p:xfrm>
          <a:off x="1261533" y="4246738"/>
          <a:ext cx="3979333" cy="2292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7056355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99899302"/>
                    </a:ext>
                  </a:extLst>
                </a:gridCol>
              </a:tblGrid>
              <a:tr h="382029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Educational</a:t>
                      </a:r>
                      <a:r>
                        <a:rPr lang="en-US" b="1" baseline="0" dirty="0" smtClean="0"/>
                        <a:t> status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1074738"/>
                      <a:r>
                        <a:rPr lang="en-US" b="1" dirty="0" smtClean="0"/>
                        <a:t>Percentages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063668"/>
                  </a:ext>
                </a:extLst>
              </a:tr>
              <a:tr h="382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Never attended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27.20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490479"/>
                  </a:ext>
                </a:extLst>
              </a:tr>
              <a:tr h="382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Basic education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57.20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67742"/>
                  </a:ext>
                </a:extLst>
              </a:tr>
              <a:tr h="382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Secondary/vocational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12.10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61720"/>
                  </a:ext>
                </a:extLst>
              </a:tr>
              <a:tr h="382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Post-secondary diploma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109974"/>
                  </a:ext>
                </a:extLst>
              </a:tr>
              <a:tr h="382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Tertiary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08772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88707"/>
              </p:ext>
            </p:extLst>
          </p:nvPr>
        </p:nvGraphicFramePr>
        <p:xfrm>
          <a:off x="5946587" y="4246738"/>
          <a:ext cx="3657600" cy="234829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22421">
                  <a:extLst>
                    <a:ext uri="{9D8B030D-6E8A-4147-A177-3AD203B41FA5}">
                      <a16:colId xmlns:a16="http://schemas.microsoft.com/office/drawing/2014/main" val="2873642816"/>
                    </a:ext>
                  </a:extLst>
                </a:gridCol>
                <a:gridCol w="1235179">
                  <a:extLst>
                    <a:ext uri="{9D8B030D-6E8A-4147-A177-3AD203B41FA5}">
                      <a16:colId xmlns:a16="http://schemas.microsoft.com/office/drawing/2014/main" val="325599741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</a:rPr>
                        <a:t>Literacy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</a:rPr>
                        <a:t>Percentages</a:t>
                      </a:r>
                      <a:endParaRPr lang="en-GB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798192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Non-literate</a:t>
                      </a:r>
                      <a:endParaRPr lang="en-GB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34.20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05493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Literate</a:t>
                      </a:r>
                      <a:endParaRPr lang="en-GB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65.80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523428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*English only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12.80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507607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*Ghanaian lang. only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13.60</a:t>
                      </a:r>
                      <a:endParaRPr lang="en-GB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19167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*English &amp; GH lang.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38.40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666839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*English &amp; French</a:t>
                      </a:r>
                      <a:endParaRPr lang="en-GB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0.10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828879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*Eng., French &amp; GH. lang.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0.10</a:t>
                      </a:r>
                      <a:endParaRPr lang="en-GB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49961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Other languages</a:t>
                      </a:r>
                      <a:endParaRPr lang="en-GB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0.80</a:t>
                      </a:r>
                      <a:endParaRPr lang="en-GB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61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26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0255"/>
            <a:ext cx="10515600" cy="546846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+mn-lt"/>
                <a:cs typeface="Times New Roman" pitchFamily="18" charset="0"/>
              </a:rPr>
              <a:t/>
            </a:r>
            <a:br>
              <a:rPr lang="en-US" sz="4000" dirty="0" smtClean="0">
                <a:latin typeface="+mn-lt"/>
                <a:cs typeface="Times New Roman" pitchFamily="18" charset="0"/>
              </a:rPr>
            </a:br>
            <a:r>
              <a:rPr lang="en-US" sz="4000" b="1" dirty="0" smtClean="0">
                <a:latin typeface="+mn-lt"/>
                <a:cs typeface="Times New Roman" pitchFamily="18" charset="0"/>
              </a:rPr>
              <a:t>Research </a:t>
            </a:r>
            <a:r>
              <a:rPr lang="en-US" sz="4000" b="1" dirty="0">
                <a:latin typeface="+mn-lt"/>
                <a:cs typeface="Times New Roman" pitchFamily="18" charset="0"/>
              </a:rPr>
              <a:t>Methodology</a:t>
            </a:r>
            <a:r>
              <a:rPr lang="en-US" dirty="0">
                <a:cs typeface="Times New Roman" pitchFamily="18" charset="0"/>
              </a:rPr>
              <a:t/>
            </a:r>
            <a:br>
              <a:rPr lang="en-US" dirty="0">
                <a:cs typeface="Times New Roman" pitchFamily="18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82140"/>
            <a:ext cx="11429999" cy="5857873"/>
          </a:xfrm>
        </p:spPr>
        <p:txBody>
          <a:bodyPr>
            <a:normAutofit lnSpcReduction="10000"/>
          </a:bodyPr>
          <a:lstStyle/>
          <a:p>
            <a:r>
              <a:rPr lang="en-GB" altLang="en-US" dirty="0" smtClean="0">
                <a:cs typeface="Times New Roman" panose="02020603050405020304" pitchFamily="18" charset="0"/>
              </a:rPr>
              <a:t>SFA </a:t>
            </a:r>
            <a:r>
              <a:rPr lang="en-GB" altLang="en-US" dirty="0">
                <a:cs typeface="Times New Roman" panose="02020603050405020304" pitchFamily="18" charset="0"/>
              </a:rPr>
              <a:t>is backed by the assumption that a single production technology characterizes </a:t>
            </a:r>
            <a:r>
              <a:rPr lang="en-GB" altLang="en-US" dirty="0" smtClean="0">
                <a:cs typeface="Times New Roman" panose="02020603050405020304" pitchFamily="18" charset="0"/>
              </a:rPr>
              <a:t>all </a:t>
            </a:r>
            <a:r>
              <a:rPr lang="en-GB" altLang="en-US" dirty="0">
                <a:cs typeface="Times New Roman" panose="02020603050405020304" pitchFamily="18" charset="0"/>
              </a:rPr>
              <a:t>sampled farms (Villano </a:t>
            </a:r>
            <a:r>
              <a:rPr lang="en-GB" altLang="en-US" i="1" dirty="0">
                <a:cs typeface="Times New Roman" panose="02020603050405020304" pitchFamily="18" charset="0"/>
              </a:rPr>
              <a:t>et al</a:t>
            </a:r>
            <a:r>
              <a:rPr lang="en-GB" altLang="en-US" dirty="0">
                <a:cs typeface="Times New Roman" panose="02020603050405020304" pitchFamily="18" charset="0"/>
              </a:rPr>
              <a:t>., 2010)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altLang="en-US" sz="1600" dirty="0">
              <a:cs typeface="Times New Roman" panose="02020603050405020304" pitchFamily="18" charset="0"/>
            </a:endParaRPr>
          </a:p>
          <a:p>
            <a:r>
              <a:rPr lang="en-GB" altLang="en-US" dirty="0">
                <a:cs typeface="Times New Roman" panose="02020603050405020304" pitchFamily="18" charset="0"/>
              </a:rPr>
              <a:t>However, </a:t>
            </a:r>
            <a:r>
              <a:rPr lang="en-GB" altLang="en-US" dirty="0" smtClean="0">
                <a:cs typeface="Times New Roman" panose="02020603050405020304" pitchFamily="18" charset="0"/>
              </a:rPr>
              <a:t>differences in the educational level of farmers could drive them to adopt different production technologies 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altLang="en-US" sz="1600" dirty="0">
              <a:cs typeface="Times New Roman" panose="02020603050405020304" pitchFamily="18" charset="0"/>
            </a:endParaRPr>
          </a:p>
          <a:p>
            <a:r>
              <a:rPr lang="en-GB" altLang="en-US" dirty="0" smtClean="0">
                <a:cs typeface="Times New Roman" panose="02020603050405020304" pitchFamily="18" charset="0"/>
              </a:rPr>
              <a:t>Assuming </a:t>
            </a:r>
            <a:r>
              <a:rPr lang="en-GB" altLang="en-US" dirty="0">
                <a:cs typeface="Times New Roman" panose="02020603050405020304" pitchFamily="18" charset="0"/>
              </a:rPr>
              <a:t>equal technology when indeed they differ risk attributing unobserved differences in production technology to </a:t>
            </a:r>
            <a:r>
              <a:rPr lang="en-GB" altLang="en-US" dirty="0" smtClean="0">
                <a:cs typeface="Times New Roman" panose="02020603050405020304" pitchFamily="18" charset="0"/>
              </a:rPr>
              <a:t>inefficiency (</a:t>
            </a:r>
            <a:r>
              <a:rPr lang="en-GB" altLang="en-US" dirty="0">
                <a:cs typeface="Times New Roman" panose="02020603050405020304" pitchFamily="18" charset="0"/>
              </a:rPr>
              <a:t>Villano </a:t>
            </a:r>
            <a:r>
              <a:rPr lang="en-GB" altLang="en-US" i="1" dirty="0">
                <a:cs typeface="Times New Roman" panose="02020603050405020304" pitchFamily="18" charset="0"/>
              </a:rPr>
              <a:t>et al</a:t>
            </a:r>
            <a:r>
              <a:rPr lang="en-GB" altLang="en-US" dirty="0">
                <a:cs typeface="Times New Roman" panose="02020603050405020304" pitchFamily="18" charset="0"/>
              </a:rPr>
              <a:t>., 2010)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altLang="en-US" sz="1600" dirty="0">
              <a:cs typeface="Times New Roman" panose="02020603050405020304" pitchFamily="18" charset="0"/>
            </a:endParaRPr>
          </a:p>
          <a:p>
            <a:r>
              <a:rPr lang="en-GB" altLang="en-US" dirty="0">
                <a:cs typeface="Times New Roman" panose="02020603050405020304" pitchFamily="18" charset="0"/>
              </a:rPr>
              <a:t>Hence, the SFA cannot be used to compare cross-country, cross-regional or multiple technology technical </a:t>
            </a:r>
            <a:r>
              <a:rPr lang="en-GB" altLang="en-US" dirty="0" smtClean="0">
                <a:cs typeface="Times New Roman" panose="02020603050405020304" pitchFamily="18" charset="0"/>
              </a:rPr>
              <a:t>efficiencies</a:t>
            </a:r>
            <a:endParaRPr lang="en-GB" altLang="en-US" dirty="0" smtClean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sz="1600" dirty="0">
              <a:cs typeface="Times New Roman" panose="02020603050405020304" pitchFamily="18" charset="0"/>
            </a:endParaRPr>
          </a:p>
          <a:p>
            <a:r>
              <a:rPr lang="en-GB" altLang="en-US" dirty="0">
                <a:cs typeface="Times New Roman" panose="02020603050405020304" pitchFamily="18" charset="0"/>
              </a:rPr>
              <a:t>The SMF is an envelope for all group </a:t>
            </a:r>
            <a:r>
              <a:rPr lang="en-GB" altLang="en-US" dirty="0" smtClean="0">
                <a:cs typeface="Times New Roman" panose="02020603050405020304" pitchFamily="18" charset="0"/>
              </a:rPr>
              <a:t>(educational levels) </a:t>
            </a:r>
            <a:r>
              <a:rPr lang="en-GB" altLang="en-US" dirty="0">
                <a:cs typeface="Times New Roman" panose="02020603050405020304" pitchFamily="18" charset="0"/>
              </a:rPr>
              <a:t>frontiers, and the group frontiers are boundaries of restricted technology </a:t>
            </a:r>
            <a:r>
              <a:rPr lang="en-GB" altLang="en-US" dirty="0" smtClean="0">
                <a:cs typeface="Times New Roman" panose="02020603050405020304" pitchFamily="18" charset="0"/>
              </a:rPr>
              <a:t>sets</a:t>
            </a:r>
            <a:endParaRPr lang="en-GB" altLang="en-US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71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551"/>
            <a:ext cx="10515600" cy="40967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  <a:cs typeface="Times New Roman" pitchFamily="18" charset="0"/>
              </a:rPr>
              <a:t>Research</a:t>
            </a:r>
            <a:r>
              <a:rPr lang="en-US" sz="3600" dirty="0">
                <a:latin typeface="+mn-lt"/>
                <a:cs typeface="Times New Roman" pitchFamily="18" charset="0"/>
              </a:rPr>
              <a:t> </a:t>
            </a:r>
            <a:r>
              <a:rPr lang="en-US" sz="3600" b="1" dirty="0">
                <a:latin typeface="+mn-lt"/>
                <a:cs typeface="Times New Roman" pitchFamily="18" charset="0"/>
              </a:rPr>
              <a:t>Methodology</a:t>
            </a:r>
            <a:endParaRPr lang="en-GB" sz="3600" b="1" dirty="0">
              <a:latin typeface="+mn-l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48235" y="677714"/>
            <a:ext cx="10721789" cy="58580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altLang="en-US" b="1" u="sng" dirty="0" smtClean="0">
                <a:cs typeface="Times New Roman" panose="02020603050405020304" pitchFamily="18" charset="0"/>
              </a:rPr>
              <a:t>Stochastic Meta-Frontier Model</a:t>
            </a:r>
            <a:endParaRPr lang="en-GB" altLang="en-US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en-US" sz="2000" i="1" dirty="0" smtClean="0">
                <a:cs typeface="Times New Roman" panose="02020603050405020304" pitchFamily="18" charset="0"/>
              </a:rPr>
              <a:t>Output (Y)</a:t>
            </a:r>
          </a:p>
          <a:p>
            <a:endParaRPr lang="en-GB" alt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en-US" sz="2000" dirty="0" smtClean="0">
                <a:cs typeface="Times New Roman" panose="02020603050405020304" pitchFamily="18" charset="0"/>
              </a:rPr>
              <a:t>Source: Adapted from Battese </a:t>
            </a:r>
            <a:r>
              <a:rPr lang="en-GB" altLang="en-US" sz="2000" i="1" dirty="0" smtClean="0">
                <a:cs typeface="Times New Roman" panose="02020603050405020304" pitchFamily="18" charset="0"/>
              </a:rPr>
              <a:t>et al.,</a:t>
            </a:r>
            <a:r>
              <a:rPr lang="en-GB" altLang="en-US" sz="2000" dirty="0" smtClean="0">
                <a:cs typeface="Times New Roman" panose="02020603050405020304" pitchFamily="18" charset="0"/>
              </a:rPr>
              <a:t> (2004)		</a:t>
            </a:r>
          </a:p>
          <a:p>
            <a:pPr algn="ctr"/>
            <a:endParaRPr lang="en-GB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887937"/>
              </p:ext>
            </p:extLst>
          </p:nvPr>
        </p:nvGraphicFramePr>
        <p:xfrm>
          <a:off x="1389224" y="1561672"/>
          <a:ext cx="7584445" cy="4238783"/>
        </p:xfrm>
        <a:graphic>
          <a:graphicData uri="http://schemas.openxmlformats.org/drawingml/2006/table">
            <a:tbl>
              <a:tblPr/>
              <a:tblGrid>
                <a:gridCol w="7584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8783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GB" sz="1200" dirty="0" smtClean="0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  <a:tabLst>
                          <a:tab pos="1025525" algn="l"/>
                          <a:tab pos="3665855" algn="l"/>
                        </a:tabLst>
                      </a:pPr>
                      <a:r>
                        <a:rPr lang="en-GB" sz="1100" dirty="0" smtClean="0">
                          <a:latin typeface="Calibri"/>
                        </a:rPr>
                        <a:t/>
                      </a:r>
                      <a:br>
                        <a:rPr lang="en-GB" sz="1100" dirty="0" smtClean="0">
                          <a:latin typeface="Calibri"/>
                        </a:rPr>
                      </a:b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	                                                                                                                  </a:t>
                      </a:r>
                      <a:endParaRPr lang="en-GB" sz="1100" dirty="0" smtClean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                   </a:t>
                      </a:r>
                      <a:endParaRPr lang="en-GB" sz="1100" dirty="0" smtClean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449195" algn="l"/>
                        </a:tabLst>
                      </a:pP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                      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449195" algn="l"/>
                        </a:tabLst>
                      </a:pP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                                     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449195" algn="l"/>
                        </a:tabLst>
                      </a:pP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                                                      </a:t>
                      </a:r>
                      <a:endParaRPr lang="en-GB" sz="1100" dirty="0" smtClean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449195" algn="l"/>
                        </a:tabLst>
                      </a:pP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                           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449195" algn="l"/>
                        </a:tabLst>
                      </a:pPr>
                      <a:r>
                        <a:rPr lang="en-GB" sz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                                                        </a:t>
                      </a:r>
                      <a:endParaRPr lang="en-GB" sz="1100" dirty="0" smtClean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256030" algn="l"/>
                        </a:tabLst>
                      </a:pPr>
                      <a:endParaRPr lang="en-GB" sz="1200" dirty="0" smtClean="0"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256030" algn="l"/>
                        </a:tabLst>
                      </a:pPr>
                      <a:endParaRPr lang="en-GB" sz="1200" dirty="0" smtClean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3" marR="6858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Arc 18"/>
          <p:cNvSpPr>
            <a:spLocks/>
          </p:cNvSpPr>
          <p:nvPr/>
        </p:nvSpPr>
        <p:spPr bwMode="auto">
          <a:xfrm rot="11399354" flipV="1">
            <a:off x="2131027" y="2884504"/>
            <a:ext cx="2299699" cy="2209946"/>
          </a:xfrm>
          <a:custGeom>
            <a:avLst/>
            <a:gdLst>
              <a:gd name="T0" fmla="*/ 0 w 23979"/>
              <a:gd name="T1" fmla="*/ 2147483647 h 26260"/>
              <a:gd name="T2" fmla="*/ 2147483647 w 23979"/>
              <a:gd name="T3" fmla="*/ 2147483647 h 26260"/>
              <a:gd name="T4" fmla="*/ 2147483647 w 23979"/>
              <a:gd name="T5" fmla="*/ 2147483647 h 26260"/>
              <a:gd name="T6" fmla="*/ 0 60000 65536"/>
              <a:gd name="T7" fmla="*/ 0 60000 65536"/>
              <a:gd name="T8" fmla="*/ 0 60000 65536"/>
              <a:gd name="T9" fmla="*/ 0 w 23979"/>
              <a:gd name="T10" fmla="*/ 0 h 26260"/>
              <a:gd name="T11" fmla="*/ 23979 w 23979"/>
              <a:gd name="T12" fmla="*/ 26260 h 262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979" h="26260" fill="none" extrusionOk="0">
                <a:moveTo>
                  <a:pt x="0" y="131"/>
                </a:moveTo>
                <a:cubicBezTo>
                  <a:pt x="790" y="43"/>
                  <a:pt x="1584" y="-1"/>
                  <a:pt x="2379" y="0"/>
                </a:cubicBezTo>
                <a:cubicBezTo>
                  <a:pt x="14308" y="0"/>
                  <a:pt x="23979" y="9670"/>
                  <a:pt x="23979" y="21600"/>
                </a:cubicBezTo>
                <a:cubicBezTo>
                  <a:pt x="23979" y="23167"/>
                  <a:pt x="23808" y="24729"/>
                  <a:pt x="23470" y="26260"/>
                </a:cubicBezTo>
              </a:path>
              <a:path w="23979" h="26260" stroke="0" extrusionOk="0">
                <a:moveTo>
                  <a:pt x="0" y="131"/>
                </a:moveTo>
                <a:cubicBezTo>
                  <a:pt x="790" y="43"/>
                  <a:pt x="1584" y="-1"/>
                  <a:pt x="2379" y="0"/>
                </a:cubicBezTo>
                <a:cubicBezTo>
                  <a:pt x="14308" y="0"/>
                  <a:pt x="23979" y="9670"/>
                  <a:pt x="23979" y="21600"/>
                </a:cubicBezTo>
                <a:cubicBezTo>
                  <a:pt x="23979" y="23167"/>
                  <a:pt x="23808" y="24729"/>
                  <a:pt x="23470" y="26260"/>
                </a:cubicBezTo>
                <a:lnTo>
                  <a:pt x="2379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13" name="AutoShape 13"/>
          <p:cNvCxnSpPr>
            <a:cxnSpLocks noChangeShapeType="1"/>
          </p:cNvCxnSpPr>
          <p:nvPr/>
        </p:nvCxnSpPr>
        <p:spPr bwMode="auto">
          <a:xfrm flipH="1" flipV="1">
            <a:off x="3107542" y="3246605"/>
            <a:ext cx="370705" cy="195167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/>
          <p:cNvCxnSpPr>
            <a:cxnSpLocks noChangeShapeType="1"/>
          </p:cNvCxnSpPr>
          <p:nvPr/>
        </p:nvCxnSpPr>
        <p:spPr bwMode="auto">
          <a:xfrm flipH="1" flipV="1">
            <a:off x="6255228" y="1561265"/>
            <a:ext cx="512520" cy="207929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Arc 31"/>
          <p:cNvSpPr>
            <a:spLocks/>
          </p:cNvSpPr>
          <p:nvPr/>
        </p:nvSpPr>
        <p:spPr bwMode="auto">
          <a:xfrm rot="10648960" flipV="1">
            <a:off x="1580584" y="1489485"/>
            <a:ext cx="6735373" cy="3949299"/>
          </a:xfrm>
          <a:custGeom>
            <a:avLst/>
            <a:gdLst>
              <a:gd name="T0" fmla="*/ 0 w 31433"/>
              <a:gd name="T1" fmla="*/ 2147483647 h 21600"/>
              <a:gd name="T2" fmla="*/ 2147483647 w 31433"/>
              <a:gd name="T3" fmla="*/ 2147483647 h 21600"/>
              <a:gd name="T4" fmla="*/ 2147483647 w 31433"/>
              <a:gd name="T5" fmla="*/ 2147483647 h 21600"/>
              <a:gd name="T6" fmla="*/ 0 60000 65536"/>
              <a:gd name="T7" fmla="*/ 0 60000 65536"/>
              <a:gd name="T8" fmla="*/ 0 60000 65536"/>
              <a:gd name="T9" fmla="*/ 0 w 31433"/>
              <a:gd name="T10" fmla="*/ 0 h 21600"/>
              <a:gd name="T11" fmla="*/ 31433 w 3143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433" h="21600" fill="none" extrusionOk="0">
                <a:moveTo>
                  <a:pt x="-1" y="2367"/>
                </a:moveTo>
                <a:cubicBezTo>
                  <a:pt x="3044" y="811"/>
                  <a:pt x="6414" y="-1"/>
                  <a:pt x="9833" y="0"/>
                </a:cubicBezTo>
                <a:cubicBezTo>
                  <a:pt x="21762" y="0"/>
                  <a:pt x="31433" y="9670"/>
                  <a:pt x="31433" y="21600"/>
                </a:cubicBezTo>
              </a:path>
              <a:path w="31433" h="21600" stroke="0" extrusionOk="0">
                <a:moveTo>
                  <a:pt x="-1" y="2367"/>
                </a:moveTo>
                <a:cubicBezTo>
                  <a:pt x="3044" y="811"/>
                  <a:pt x="6414" y="-1"/>
                  <a:pt x="9833" y="0"/>
                </a:cubicBezTo>
                <a:cubicBezTo>
                  <a:pt x="21762" y="0"/>
                  <a:pt x="31433" y="9670"/>
                  <a:pt x="31433" y="21600"/>
                </a:cubicBezTo>
                <a:lnTo>
                  <a:pt x="9833" y="2160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8773521" y="1284266"/>
            <a:ext cx="22137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18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Meta-frontier </a:t>
            </a:r>
            <a:r>
              <a:rPr lang="en-GB" alt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≡</a:t>
            </a:r>
            <a:r>
              <a:rPr lang="en-GB" altLang="en-US" sz="18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16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ƒ(β*;</a:t>
            </a:r>
            <a:r>
              <a:rPr lang="en-GB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GB" altLang="en-US" sz="16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)</a:t>
            </a:r>
            <a:endParaRPr lang="en-GB" altLang="en-US" sz="16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AutoShape 36"/>
          <p:cNvCxnSpPr>
            <a:cxnSpLocks noChangeShapeType="1"/>
          </p:cNvCxnSpPr>
          <p:nvPr/>
        </p:nvCxnSpPr>
        <p:spPr bwMode="auto">
          <a:xfrm flipH="1">
            <a:off x="8014448" y="1320376"/>
            <a:ext cx="728228" cy="24339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3"/>
              <p:cNvSpPr>
                <a:spLocks noChangeArrowheads="1"/>
              </p:cNvSpPr>
              <p:nvPr/>
            </p:nvSpPr>
            <p:spPr bwMode="auto">
              <a:xfrm>
                <a:off x="2331317" y="5155654"/>
                <a:ext cx="3407984" cy="300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4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altLang="en-US" sz="1800" dirty="0" smtClean="0"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No education (No) ≡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sz="1800" dirty="0" smtClean="0"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GB" altLang="en-US" sz="1600" dirty="0"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1317" y="5155654"/>
                <a:ext cx="3407984" cy="300660"/>
              </a:xfrm>
              <a:prstGeom prst="rect">
                <a:avLst/>
              </a:prstGeom>
              <a:blipFill>
                <a:blip r:embed="rId2"/>
                <a:stretch>
                  <a:fillRect l="-2862" t="-18367" r="-1073" b="-469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3"/>
              <p:cNvSpPr>
                <a:spLocks noChangeArrowheads="1"/>
              </p:cNvSpPr>
              <p:nvPr/>
            </p:nvSpPr>
            <p:spPr bwMode="auto">
              <a:xfrm>
                <a:off x="5204236" y="3649282"/>
                <a:ext cx="460385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800" dirty="0" smtClean="0">
                    <a:solidFill>
                      <a:srgbClr val="000000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   Educated (Ed) </a:t>
                </a:r>
                <a:r>
                  <a:rPr lang="en-GB" altLang="en-US" sz="1800" dirty="0" smtClean="0"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≡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𝐸𝑑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𝐸𝑑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altLang="en-US" sz="1600" dirty="0"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4236" y="3649282"/>
                <a:ext cx="4603850" cy="307777"/>
              </a:xfrm>
              <a:prstGeom prst="rect">
                <a:avLst/>
              </a:prstGeom>
              <a:blipFill>
                <a:blip r:embed="rId3"/>
                <a:stretch>
                  <a:fillRect t="-18000" b="-44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017967"/>
              </p:ext>
            </p:extLst>
          </p:nvPr>
        </p:nvGraphicFramePr>
        <p:xfrm>
          <a:off x="1389223" y="5781220"/>
          <a:ext cx="7584447" cy="396240"/>
        </p:xfrm>
        <a:graphic>
          <a:graphicData uri="http://schemas.openxmlformats.org/drawingml/2006/table">
            <a:tbl>
              <a:tblPr/>
              <a:tblGrid>
                <a:gridCol w="7584447">
                  <a:extLst>
                    <a:ext uri="{9D8B030D-6E8A-4147-A177-3AD203B41FA5}">
                      <a16:colId xmlns:a16="http://schemas.microsoft.com/office/drawing/2014/main" val="401804965"/>
                    </a:ext>
                  </a:extLst>
                </a:gridCol>
              </a:tblGrid>
              <a:tr h="388793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                                                                                                       </a:t>
                      </a:r>
                      <a:r>
                        <a:rPr lang="en-US" sz="2000" i="1" dirty="0" smtClean="0">
                          <a:latin typeface="+mn-lt"/>
                          <a:cs typeface="Times New Roman" panose="02020603050405020304" pitchFamily="18" charset="0"/>
                        </a:rPr>
                        <a:t>Input (X)</a:t>
                      </a:r>
                      <a:endParaRPr lang="en-GB" sz="2000" i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mpd="sng">
                      <a:noFill/>
                      <a:prstDash val="solid"/>
                    </a:lnL>
                    <a:lnR w="38100" cmpd="sng">
                      <a:noFill/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382688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465046"/>
              </p:ext>
            </p:extLst>
          </p:nvPr>
        </p:nvGraphicFramePr>
        <p:xfrm>
          <a:off x="1389224" y="1561672"/>
          <a:ext cx="253409" cy="4230032"/>
        </p:xfrm>
        <a:graphic>
          <a:graphicData uri="http://schemas.openxmlformats.org/drawingml/2006/table">
            <a:tbl>
              <a:tblPr/>
              <a:tblGrid>
                <a:gridCol w="253409">
                  <a:extLst>
                    <a:ext uri="{9D8B030D-6E8A-4147-A177-3AD203B41FA5}">
                      <a16:colId xmlns:a16="http://schemas.microsoft.com/office/drawing/2014/main" val="649863852"/>
                    </a:ext>
                  </a:extLst>
                </a:gridCol>
              </a:tblGrid>
              <a:tr h="423003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38100" cmpd="sng">
                      <a:solidFill>
                        <a:schemeClr val="tx1"/>
                      </a:solidFill>
                      <a:prstDash val="solid"/>
                    </a:lnL>
                    <a:lnR w="38100" cmpd="sng">
                      <a:noFill/>
                      <a:prstDash val="solid"/>
                    </a:lnR>
                    <a:lnT w="38100" cmpd="sng">
                      <a:noFill/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276855"/>
                  </a:ext>
                </a:extLst>
              </a:tr>
            </a:tbl>
          </a:graphicData>
        </a:graphic>
      </p:graphicFrame>
      <p:sp>
        <p:nvSpPr>
          <p:cNvPr id="27" name="Arc 18"/>
          <p:cNvSpPr>
            <a:spLocks/>
          </p:cNvSpPr>
          <p:nvPr/>
        </p:nvSpPr>
        <p:spPr bwMode="auto">
          <a:xfrm rot="11928688" flipV="1">
            <a:off x="4876752" y="1263364"/>
            <a:ext cx="2813355" cy="2151768"/>
          </a:xfrm>
          <a:custGeom>
            <a:avLst/>
            <a:gdLst>
              <a:gd name="T0" fmla="*/ 0 w 23979"/>
              <a:gd name="T1" fmla="*/ 2147483647 h 26260"/>
              <a:gd name="T2" fmla="*/ 2147483647 w 23979"/>
              <a:gd name="T3" fmla="*/ 2147483647 h 26260"/>
              <a:gd name="T4" fmla="*/ 2147483647 w 23979"/>
              <a:gd name="T5" fmla="*/ 2147483647 h 26260"/>
              <a:gd name="T6" fmla="*/ 0 60000 65536"/>
              <a:gd name="T7" fmla="*/ 0 60000 65536"/>
              <a:gd name="T8" fmla="*/ 0 60000 65536"/>
              <a:gd name="T9" fmla="*/ 0 w 23979"/>
              <a:gd name="T10" fmla="*/ 0 h 26260"/>
              <a:gd name="T11" fmla="*/ 23979 w 23979"/>
              <a:gd name="T12" fmla="*/ 26260 h 262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979" h="26260" fill="none" extrusionOk="0">
                <a:moveTo>
                  <a:pt x="0" y="131"/>
                </a:moveTo>
                <a:cubicBezTo>
                  <a:pt x="790" y="43"/>
                  <a:pt x="1584" y="-1"/>
                  <a:pt x="2379" y="0"/>
                </a:cubicBezTo>
                <a:cubicBezTo>
                  <a:pt x="14308" y="0"/>
                  <a:pt x="23979" y="9670"/>
                  <a:pt x="23979" y="21600"/>
                </a:cubicBezTo>
                <a:cubicBezTo>
                  <a:pt x="23979" y="23167"/>
                  <a:pt x="23808" y="24729"/>
                  <a:pt x="23470" y="26260"/>
                </a:cubicBezTo>
              </a:path>
              <a:path w="23979" h="26260" stroke="0" extrusionOk="0">
                <a:moveTo>
                  <a:pt x="0" y="131"/>
                </a:moveTo>
                <a:cubicBezTo>
                  <a:pt x="790" y="43"/>
                  <a:pt x="1584" y="-1"/>
                  <a:pt x="2379" y="0"/>
                </a:cubicBezTo>
                <a:cubicBezTo>
                  <a:pt x="14308" y="0"/>
                  <a:pt x="23979" y="9670"/>
                  <a:pt x="23979" y="21600"/>
                </a:cubicBezTo>
                <a:cubicBezTo>
                  <a:pt x="23979" y="23167"/>
                  <a:pt x="23808" y="24729"/>
                  <a:pt x="23470" y="26260"/>
                </a:cubicBezTo>
                <a:lnTo>
                  <a:pt x="2379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0595233" y="1246692"/>
                <a:ext cx="4511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233" y="1246692"/>
                <a:ext cx="451149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12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/>
      <p:bldP spid="18" grpId="0"/>
      <p:bldP spid="19" grpId="0"/>
      <p:bldP spid="27" grpId="0" animBg="1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729"/>
            <a:ext cx="10515600" cy="66338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cs typeface="Times New Roman" pitchFamily="18" charset="0"/>
              </a:rPr>
              <a:t/>
            </a:r>
            <a:br>
              <a:rPr lang="en-US" dirty="0" smtClean="0">
                <a:cs typeface="Times New Roman" pitchFamily="18" charset="0"/>
              </a:rPr>
            </a:br>
            <a:r>
              <a:rPr lang="en-US" sz="4000" b="1" dirty="0" smtClean="0">
                <a:latin typeface="+mn-lt"/>
                <a:cs typeface="Times New Roman" pitchFamily="18" charset="0"/>
              </a:rPr>
              <a:t>Results </a:t>
            </a:r>
            <a:r>
              <a:rPr lang="en-US" sz="4000" b="1" dirty="0">
                <a:latin typeface="+mn-lt"/>
                <a:cs typeface="Times New Roman" pitchFamily="18" charset="0"/>
              </a:rPr>
              <a:t>and Discussion</a:t>
            </a:r>
            <a:r>
              <a:rPr lang="en-US" dirty="0">
                <a:cs typeface="Times New Roman" pitchFamily="18" charset="0"/>
              </a:rPr>
              <a:t/>
            </a:r>
            <a:br>
              <a:rPr lang="en-US" dirty="0">
                <a:cs typeface="Times New Roman" pitchFamily="18" charset="0"/>
              </a:rPr>
            </a:b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5514"/>
              </p:ext>
            </p:extLst>
          </p:nvPr>
        </p:nvGraphicFramePr>
        <p:xfrm>
          <a:off x="1574799" y="993097"/>
          <a:ext cx="8715916" cy="557803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116668">
                  <a:extLst>
                    <a:ext uri="{9D8B030D-6E8A-4147-A177-3AD203B41FA5}">
                      <a16:colId xmlns:a16="http://schemas.microsoft.com/office/drawing/2014/main" val="612173209"/>
                    </a:ext>
                  </a:extLst>
                </a:gridCol>
                <a:gridCol w="1742640">
                  <a:extLst>
                    <a:ext uri="{9D8B030D-6E8A-4147-A177-3AD203B41FA5}">
                      <a16:colId xmlns:a16="http://schemas.microsoft.com/office/drawing/2014/main" val="3091128312"/>
                    </a:ext>
                  </a:extLst>
                </a:gridCol>
                <a:gridCol w="1642929">
                  <a:extLst>
                    <a:ext uri="{9D8B030D-6E8A-4147-A177-3AD203B41FA5}">
                      <a16:colId xmlns:a16="http://schemas.microsoft.com/office/drawing/2014/main" val="298340615"/>
                    </a:ext>
                  </a:extLst>
                </a:gridCol>
                <a:gridCol w="1446125">
                  <a:extLst>
                    <a:ext uri="{9D8B030D-6E8A-4147-A177-3AD203B41FA5}">
                      <a16:colId xmlns:a16="http://schemas.microsoft.com/office/drawing/2014/main" val="3520191370"/>
                    </a:ext>
                  </a:extLst>
                </a:gridCol>
                <a:gridCol w="1767554">
                  <a:extLst>
                    <a:ext uri="{9D8B030D-6E8A-4147-A177-3AD203B41FA5}">
                      <a16:colId xmlns:a16="http://schemas.microsoft.com/office/drawing/2014/main" val="3877640643"/>
                    </a:ext>
                  </a:extLst>
                </a:gridCol>
              </a:tblGrid>
              <a:tr h="22553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GB" sz="20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National</a:t>
                      </a:r>
                      <a:endParaRPr lang="en-GB" sz="20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Meta-frontier</a:t>
                      </a:r>
                      <a:endParaRPr lang="en-GB" sz="20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64276"/>
                  </a:ext>
                </a:extLst>
              </a:tr>
              <a:tr h="65648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Non-educated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L w="12700" cmpd="sng">
                      <a:noFill/>
                    </a:lnL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Educated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184434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ysClr val="windowText" lastClr="000000"/>
                          </a:solidFill>
                          <a:effectLst/>
                        </a:rPr>
                        <a:t>Land</a:t>
                      </a:r>
                      <a:endParaRPr lang="en-GB" sz="20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0.540***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0.609*** (0.001)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0.578*** (0.002)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0.670***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0.019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8097337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ysClr val="windowText" lastClr="000000"/>
                          </a:solidFill>
                          <a:effectLst/>
                        </a:rPr>
                        <a:t>Quantity of seed</a:t>
                      </a:r>
                      <a:endParaRPr lang="en-GB" sz="20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0.033***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0.022*** (0.000)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0.025*** (0.000)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0.011***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9064709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ysClr val="windowText" lastClr="000000"/>
                          </a:solidFill>
                          <a:effectLst/>
                        </a:rPr>
                        <a:t>Family labor</a:t>
                      </a:r>
                      <a:endParaRPr lang="en-GB" sz="20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0.248***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0.258*** (0.001)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0.253*** (0.001)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0.162***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0.027)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84950851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ysClr val="windowText" lastClr="000000"/>
                          </a:solidFill>
                          <a:effectLst/>
                        </a:rPr>
                        <a:t>Hired labor</a:t>
                      </a:r>
                      <a:endParaRPr lang="en-GB" sz="20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0.013*** (0.000)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0.014*** (0.000)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0.015***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12439034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ysClr val="windowText" lastClr="000000"/>
                          </a:solidFill>
                          <a:effectLst/>
                        </a:rPr>
                        <a:t>Fertilizer</a:t>
                      </a:r>
                      <a:endParaRPr lang="en-GB" sz="20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0.014*** (0.000)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0.014*** (0.000)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0.010***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76977938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Pesticide</a:t>
                      </a:r>
                      <a:endParaRPr lang="en-GB" sz="20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0.012***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0.000)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0.012*** (0.000)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0.012*** (0.000)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0.019***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0.002)</a:t>
                      </a:r>
                    </a:p>
                  </a:txBody>
                  <a:tcPr marL="7620" marR="7620" marT="7620" marB="0"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164973"/>
                  </a:ext>
                </a:extLst>
              </a:tr>
              <a:tr h="656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Returns to scale</a:t>
                      </a:r>
                      <a:endParaRPr lang="en-GB" sz="20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92" marR="60992" marT="0" marB="0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0.896*** (0.001)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0.861*** (0.002)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0.928*** (0.002)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0.887*** </a:t>
                      </a:r>
                      <a:endParaRPr lang="en-GB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ctr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0.016)</a:t>
                      </a:r>
                    </a:p>
                  </a:txBody>
                  <a:tcPr marL="7620" marR="7620" marT="762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3550192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77058"/>
              </p:ext>
            </p:extLst>
          </p:nvPr>
        </p:nvGraphicFramePr>
        <p:xfrm>
          <a:off x="1574799" y="6571129"/>
          <a:ext cx="8715916" cy="365760"/>
        </p:xfrm>
        <a:graphic>
          <a:graphicData uri="http://schemas.openxmlformats.org/drawingml/2006/table">
            <a:tbl>
              <a:tblPr/>
              <a:tblGrid>
                <a:gridCol w="8715916">
                  <a:extLst>
                    <a:ext uri="{9D8B030D-6E8A-4147-A177-3AD203B41FA5}">
                      <a16:colId xmlns:a16="http://schemas.microsoft.com/office/drawing/2014/main" val="3758057942"/>
                    </a:ext>
                  </a:extLst>
                </a:gridCol>
              </a:tblGrid>
              <a:tr h="28687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38100" cmpd="sng">
                      <a:noFill/>
                      <a:prstDash val="solid"/>
                    </a:lnL>
                    <a:lnR w="38100" cmpd="sng">
                      <a:noFill/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75139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69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11</a:t>
            </a:fld>
            <a:endParaRPr lang="en-GB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67730"/>
            <a:ext cx="10515600" cy="440268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  <a:cs typeface="Times New Roman" pitchFamily="18" charset="0"/>
              </a:rPr>
              <a:t>Results and Discussion</a:t>
            </a:r>
            <a:endParaRPr lang="en-GB" sz="3600" b="1" dirty="0">
              <a:latin typeface="+mn-lt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78588"/>
              </p:ext>
            </p:extLst>
          </p:nvPr>
        </p:nvGraphicFramePr>
        <p:xfrm>
          <a:off x="1210734" y="506742"/>
          <a:ext cx="8532692" cy="627900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870199">
                  <a:extLst>
                    <a:ext uri="{9D8B030D-6E8A-4147-A177-3AD203B41FA5}">
                      <a16:colId xmlns:a16="http://schemas.microsoft.com/office/drawing/2014/main" val="4163186479"/>
                    </a:ext>
                  </a:extLst>
                </a:gridCol>
                <a:gridCol w="1978427">
                  <a:extLst>
                    <a:ext uri="{9D8B030D-6E8A-4147-A177-3AD203B41FA5}">
                      <a16:colId xmlns:a16="http://schemas.microsoft.com/office/drawing/2014/main" val="4155332280"/>
                    </a:ext>
                  </a:extLst>
                </a:gridCol>
                <a:gridCol w="1929278">
                  <a:extLst>
                    <a:ext uri="{9D8B030D-6E8A-4147-A177-3AD203B41FA5}">
                      <a16:colId xmlns:a16="http://schemas.microsoft.com/office/drawing/2014/main" val="3031402805"/>
                    </a:ext>
                  </a:extLst>
                </a:gridCol>
                <a:gridCol w="1754788">
                  <a:extLst>
                    <a:ext uri="{9D8B030D-6E8A-4147-A177-3AD203B41FA5}">
                      <a16:colId xmlns:a16="http://schemas.microsoft.com/office/drawing/2014/main" val="3623025128"/>
                    </a:ext>
                  </a:extLst>
                </a:gridCol>
              </a:tblGrid>
              <a:tr h="2506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 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TGR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TE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MTE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781137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u="none" dirty="0">
                          <a:effectLst/>
                          <a:latin typeface="+mn-lt"/>
                        </a:rPr>
                        <a:t>Formal education status</a:t>
                      </a:r>
                      <a:endParaRPr lang="en-GB" sz="160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12641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 smtClean="0">
                          <a:effectLst/>
                          <a:latin typeface="+mn-lt"/>
                        </a:rPr>
                        <a:t>Non-educated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0.862*** (0.023)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0.635***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0.543*** (0.017)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309050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 smtClean="0">
                          <a:effectLst/>
                          <a:latin typeface="+mn-lt"/>
                        </a:rPr>
                        <a:t>Some form of education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0.888*** (0.009)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0.616***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0.543*** (0.006)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72178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u="none" dirty="0">
                          <a:effectLst/>
                          <a:latin typeface="+mn-lt"/>
                        </a:rPr>
                        <a:t>Formal education level</a:t>
                      </a:r>
                      <a:endParaRPr lang="en-GB" sz="160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494650806"/>
                  </a:ext>
                </a:extLst>
              </a:tr>
              <a:tr h="2506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Uneducated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0.905*** (0.002)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0.635***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0.578***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70358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Primary Education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marL="355600" indent="0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0.887*** (0.001)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0.708*** (0.011)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0.631*** (0.011)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324364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Junior Secondary School (JSS)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0.873***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0.607***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0.531***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352793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Senior Secondary School (SSS)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0.870*** (0.001)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0.570*** (0.007)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0.498*** (0.006)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872080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+mn-lt"/>
                        </a:rPr>
                        <a:t>post-SSS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0.895***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0.670*** (0.011)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0.604*** (0.010)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3507726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u="none" dirty="0">
                          <a:effectLst/>
                          <a:latin typeface="+mn-lt"/>
                        </a:rPr>
                        <a:t>Years of education quintile</a:t>
                      </a:r>
                      <a:endParaRPr lang="en-GB" sz="160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695204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First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0.904*** (0.002)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0.635***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0.577*** (0.002)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650959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Second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0.888*** (0.001)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0.708*** (0.011)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0.632*** (0.011)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4003747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Third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0.889***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0.671*** (0.040)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0.601*** (0.035)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329968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Fourth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0.873***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0.607***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0.532***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697546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+mn-lt"/>
                        </a:rPr>
                        <a:t>Fifth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0.869*** (0.001)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0.541***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0.472*** (0.002)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888703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u="none" dirty="0">
                          <a:effectLst/>
                          <a:latin typeface="+mn-lt"/>
                        </a:rPr>
                        <a:t>Numeracy</a:t>
                      </a:r>
                      <a:endParaRPr lang="en-GB" sz="160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007281419"/>
                  </a:ext>
                </a:extLst>
              </a:tr>
              <a:tr h="2506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Cannot do written calculations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0.917*** (0.027)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0.638***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0.589*** (0.020)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3425143822"/>
                  </a:ext>
                </a:extLst>
              </a:tr>
              <a:tr h="59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+mn-lt"/>
                        </a:rPr>
                        <a:t>Can do written calculations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0.889*** (0.013)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0.599***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0.535*** (0.008)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72589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u="none" dirty="0">
                          <a:effectLst/>
                          <a:latin typeface="+mn-lt"/>
                        </a:rPr>
                        <a:t>Ghanaian language literacy</a:t>
                      </a:r>
                      <a:endParaRPr lang="en-GB" sz="160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1195546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Cannot write/read 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0.907*** (0.001)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0.624***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0.569***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493622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+mn-lt"/>
                        </a:rPr>
                        <a:t>Can write/read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0.882***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0.595***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0.527***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62306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u="none" dirty="0">
                          <a:effectLst/>
                          <a:latin typeface="+mn-lt"/>
                        </a:rPr>
                        <a:t>English/French literacy</a:t>
                      </a:r>
                      <a:endParaRPr lang="en-GB" sz="160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endParaRPr lang="en-GB" sz="16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3165949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+mn-lt"/>
                        </a:rPr>
                        <a:t>Cannot write/read </a:t>
                      </a:r>
                      <a:endParaRPr lang="en-GB" sz="1600" b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0.911*** (0.008)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0.630***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0.578*** (0.006)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2059584166"/>
                  </a:ext>
                </a:extLst>
              </a:tr>
              <a:tr h="2506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+mn-lt"/>
                        </a:rPr>
                        <a:t>Can write/read</a:t>
                      </a:r>
                      <a:endParaRPr lang="en-GB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0.890*** (0.006)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  <a:latin typeface="+mn-lt"/>
                        </a:rPr>
                        <a:t>0.597*** (0.001)</a:t>
                      </a:r>
                      <a:endParaRPr lang="en-GB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0.535*** (0.003)</a:t>
                      </a:r>
                      <a:endParaRPr lang="en-GB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69" marR="45469" marT="0" marB="0"/>
                </a:tc>
                <a:extLst>
                  <a:ext uri="{0D108BD9-81ED-4DB2-BD59-A6C34878D82A}">
                    <a16:rowId xmlns:a16="http://schemas.microsoft.com/office/drawing/2014/main" val="3439038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15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023"/>
            <a:ext cx="10515600" cy="51098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cs typeface="Times New Roman" pitchFamily="18" charset="0"/>
              </a:rPr>
              <a:t/>
            </a:r>
            <a:br>
              <a:rPr lang="en-US" dirty="0" smtClean="0">
                <a:cs typeface="Times New Roman" pitchFamily="18" charset="0"/>
              </a:rPr>
            </a:br>
            <a:r>
              <a:rPr lang="en-US" b="1" dirty="0" smtClean="0">
                <a:latin typeface="+mn-lt"/>
                <a:cs typeface="Times New Roman" pitchFamily="18" charset="0"/>
              </a:rPr>
              <a:t>Conclusions</a:t>
            </a:r>
            <a:r>
              <a:rPr lang="en-US" dirty="0">
                <a:cs typeface="Times New Roman" pitchFamily="18" charset="0"/>
              </a:rPr>
              <a:t/>
            </a:r>
            <a:br>
              <a:rPr lang="en-US" dirty="0">
                <a:cs typeface="Times New Roman" pitchFamily="18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4" y="1126067"/>
            <a:ext cx="11421036" cy="5520267"/>
          </a:xfrm>
        </p:spPr>
        <p:txBody>
          <a:bodyPr>
            <a:noAutofit/>
          </a:bodyPr>
          <a:lstStyle/>
          <a:p>
            <a:r>
              <a:rPr lang="en-US" dirty="0" smtClean="0"/>
              <a:t>Formal education appears not to have any considerable influence on farm efficiency and agricultural productivity in Ghana</a:t>
            </a:r>
            <a:r>
              <a:rPr lang="en-US" dirty="0" smtClean="0"/>
              <a:t>;</a:t>
            </a:r>
          </a:p>
          <a:p>
            <a:endParaRPr lang="en-GB" sz="24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Rudimentary agricultural technology landscape in </a:t>
            </a:r>
            <a:r>
              <a:rPr lang="en-US" dirty="0" smtClean="0"/>
              <a:t>Ghana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E</a:t>
            </a:r>
            <a:r>
              <a:rPr lang="en-GB" dirty="0" smtClean="0"/>
              <a:t>xtensive </a:t>
            </a:r>
            <a:r>
              <a:rPr lang="en-GB" dirty="0" smtClean="0"/>
              <a:t>promotion of technological packages via diverse interventions in the country – PFJ, fertilizer subsidy programs, etc</a:t>
            </a:r>
            <a:r>
              <a:rPr lang="en-GB" dirty="0" smtClean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Reinforce </a:t>
            </a:r>
            <a:r>
              <a:rPr lang="en-US" dirty="0" smtClean="0"/>
              <a:t>the general perception of farming being a profession for the </a:t>
            </a:r>
            <a:r>
              <a:rPr lang="en-US" dirty="0" smtClean="0"/>
              <a:t>poor and less </a:t>
            </a:r>
            <a:r>
              <a:rPr lang="en-US" dirty="0" smtClean="0"/>
              <a:t>educated (off-farm)</a:t>
            </a:r>
          </a:p>
          <a:p>
            <a:pPr marL="0" indent="0">
              <a:buNone/>
            </a:pPr>
            <a:endParaRPr lang="en-GB" sz="1100" dirty="0" smtClean="0"/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42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276"/>
            <a:ext cx="10515600" cy="53279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</a:rPr>
              <a:t>R</a:t>
            </a:r>
            <a:r>
              <a:rPr lang="en-US" sz="3600" b="1" dirty="0" smtClean="0">
                <a:latin typeface="+mn-lt"/>
              </a:rPr>
              <a:t>eferences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259" y="806040"/>
            <a:ext cx="11824447" cy="600799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000" dirty="0"/>
              <a:t>Asadullah, M.N.  &amp; Rahman, S. (2009). Farm productivity and efficiency in rural Bangladesh: the role of education revisited, Applied Economics, 41:1, 17-33</a:t>
            </a:r>
          </a:p>
          <a:p>
            <a:pPr algn="just"/>
            <a:r>
              <a:rPr lang="en-GB" sz="2000" dirty="0" smtClean="0"/>
              <a:t>Becker, </a:t>
            </a:r>
            <a:r>
              <a:rPr lang="en-GB" sz="2000" dirty="0"/>
              <a:t>G.S. (1993</a:t>
            </a:r>
            <a:r>
              <a:rPr lang="en-GB" sz="2000" dirty="0" smtClean="0"/>
              <a:t>). </a:t>
            </a:r>
            <a:r>
              <a:rPr lang="en-GB" sz="2000" dirty="0"/>
              <a:t>Human </a:t>
            </a:r>
            <a:r>
              <a:rPr lang="en-GB" sz="1900" dirty="0"/>
              <a:t>Capital</a:t>
            </a:r>
            <a:r>
              <a:rPr lang="en-GB" sz="2000" dirty="0"/>
              <a:t>, 3rd </a:t>
            </a:r>
            <a:r>
              <a:rPr lang="en-GB" sz="2000" dirty="0" err="1"/>
              <a:t>edn</a:t>
            </a:r>
            <a:r>
              <a:rPr lang="en-GB" sz="2000" dirty="0"/>
              <a:t>. (The University of Chicago Press, Chicago, </a:t>
            </a:r>
            <a:r>
              <a:rPr lang="en-GB" sz="2000" dirty="0" smtClean="0"/>
              <a:t>IL)</a:t>
            </a:r>
          </a:p>
          <a:p>
            <a:pPr algn="just"/>
            <a:r>
              <a:rPr lang="en-GB" sz="1800" dirty="0"/>
              <a:t>Coelli, T., Rahman, S. &amp; Thirtle, C. (2002). Technical, allocative, cost and scale efficiencies in Bangladesh rice cultivation: a non-parametric approach. J Agr Econ 53(3):607–626.</a:t>
            </a:r>
          </a:p>
          <a:p>
            <a:pPr algn="just"/>
            <a:r>
              <a:rPr lang="en-GB" sz="1800" dirty="0"/>
              <a:t>Duflo, E., Kremer, M. &amp; Robinson, J. (2011). Nudging Farmers to Use Fertilizer: Theory and Experimental Evidence from Kenya. Am. Econ. Rev. 101, 2350–2390.</a:t>
            </a:r>
          </a:p>
          <a:p>
            <a:pPr algn="just"/>
            <a:r>
              <a:rPr lang="en-GB" sz="1800" dirty="0" err="1" smtClean="0"/>
              <a:t>Dzanku</a:t>
            </a:r>
            <a:r>
              <a:rPr lang="en-GB" sz="1800" dirty="0"/>
              <a:t>, F.M., Osei, R.D., Nkegbe, P.K</a:t>
            </a:r>
            <a:r>
              <a:rPr lang="en-GB" sz="1800" dirty="0" smtClean="0"/>
              <a:t>. &amp; </a:t>
            </a:r>
            <a:r>
              <a:rPr lang="en-GB" sz="1800" dirty="0"/>
              <a:t>Osei-</a:t>
            </a:r>
            <a:r>
              <a:rPr lang="en-GB" sz="1800" dirty="0" err="1"/>
              <a:t>Akoto</a:t>
            </a:r>
            <a:r>
              <a:rPr lang="en-GB" sz="1800" dirty="0"/>
              <a:t>, I</a:t>
            </a:r>
            <a:r>
              <a:rPr lang="en-GB" sz="1800" dirty="0" smtClean="0"/>
              <a:t>. (2020). </a:t>
            </a:r>
            <a:r>
              <a:rPr lang="en-GB" sz="1800" dirty="0"/>
              <a:t>Information delivery channels </a:t>
            </a:r>
            <a:r>
              <a:rPr lang="en-GB" sz="1800" dirty="0" smtClean="0"/>
              <a:t>and agricultural </a:t>
            </a:r>
            <a:r>
              <a:rPr lang="en-GB" sz="1800" dirty="0"/>
              <a:t>technology uptake: experimental evidence from Ghana. Eur. Rev. Agric. Econ.</a:t>
            </a:r>
            <a:endParaRPr lang="en-GB" sz="1800" dirty="0" smtClean="0"/>
          </a:p>
          <a:p>
            <a:r>
              <a:rPr lang="en-GB" sz="1800" dirty="0"/>
              <a:t>Fuglie, K., </a:t>
            </a:r>
            <a:r>
              <a:rPr lang="en-GB" sz="1800" dirty="0" err="1"/>
              <a:t>Gautam</a:t>
            </a:r>
            <a:r>
              <a:rPr lang="en-GB" sz="1800" dirty="0"/>
              <a:t>, M., </a:t>
            </a:r>
            <a:r>
              <a:rPr lang="en-GB" sz="1800" dirty="0" err="1"/>
              <a:t>Goyal</a:t>
            </a:r>
            <a:r>
              <a:rPr lang="en-GB" sz="1800" dirty="0"/>
              <a:t>, A. &amp; Maloney, W.F. (2020). </a:t>
            </a:r>
            <a:r>
              <a:rPr lang="en-GB" sz="1800" i="1" dirty="0"/>
              <a:t>Harvesting Prosperity: Technology and Productivity Growth in Agriculture</a:t>
            </a:r>
            <a:r>
              <a:rPr lang="en-GB" sz="1800" dirty="0"/>
              <a:t>. Washington, DC: World Bank. doi:10.1596/978-1-4648-1393-1.</a:t>
            </a:r>
          </a:p>
          <a:p>
            <a:r>
              <a:rPr lang="en-GB" sz="1800" dirty="0"/>
              <a:t>Jayne, T.S., </a:t>
            </a:r>
            <a:r>
              <a:rPr lang="en-GB" sz="1800" dirty="0" err="1"/>
              <a:t>Snapp</a:t>
            </a:r>
            <a:r>
              <a:rPr lang="en-GB" sz="1800" dirty="0"/>
              <a:t>, S., Place, F. &amp; </a:t>
            </a:r>
            <a:r>
              <a:rPr lang="en-GB" sz="1800" dirty="0" err="1"/>
              <a:t>Sitko</a:t>
            </a:r>
            <a:r>
              <a:rPr lang="en-GB" sz="1800" dirty="0"/>
              <a:t>, N. (2019). Sustainable agricultural intensification in an era of rural transformation in Africa. Glob. Food </a:t>
            </a:r>
            <a:r>
              <a:rPr lang="en-GB" sz="1800" dirty="0" err="1"/>
              <a:t>Secur</a:t>
            </a:r>
            <a:r>
              <a:rPr lang="en-GB" sz="1800" dirty="0"/>
              <a:t>., 20,105-113.</a:t>
            </a:r>
          </a:p>
          <a:p>
            <a:r>
              <a:rPr lang="en-GB" sz="1800" dirty="0"/>
              <a:t>Jayne, T.S. &amp; </a:t>
            </a:r>
            <a:r>
              <a:rPr lang="en-GB" sz="1800" dirty="0" smtClean="0"/>
              <a:t>Sanchez, </a:t>
            </a:r>
            <a:r>
              <a:rPr lang="en-GB" sz="1800" dirty="0"/>
              <a:t>P.A. (2021). Agricultural productivity must improve in sub-Saharan Africa. Science 4;372(6546):</a:t>
            </a:r>
            <a:r>
              <a:rPr lang="en-GB" sz="1800" dirty="0" smtClean="0"/>
              <a:t>1045-1047.</a:t>
            </a:r>
            <a:endParaRPr lang="en-GB" sz="1800" dirty="0"/>
          </a:p>
          <a:p>
            <a:r>
              <a:rPr lang="en-GB" sz="1800" dirty="0" smtClean="0"/>
              <a:t>Reimers, M. &amp; Klasen, S. (2013). Revisiting the role of education for agricultural productivity. Amer. J of Ag. Econ., 95: 131-152.</a:t>
            </a:r>
          </a:p>
          <a:p>
            <a:r>
              <a:rPr lang="en-GB" sz="1800" dirty="0" err="1" smtClean="0"/>
              <a:t>Rodenburg</a:t>
            </a:r>
            <a:r>
              <a:rPr lang="en-GB" sz="1800" dirty="0"/>
              <a:t>, J., </a:t>
            </a:r>
            <a:r>
              <a:rPr lang="en-GB" sz="1800" dirty="0" err="1"/>
              <a:t>Büchi</a:t>
            </a:r>
            <a:r>
              <a:rPr lang="en-GB" sz="1800" dirty="0"/>
              <a:t>, L</a:t>
            </a:r>
            <a:r>
              <a:rPr lang="en-GB" sz="1800" dirty="0" smtClean="0"/>
              <a:t>. &amp; </a:t>
            </a:r>
            <a:r>
              <a:rPr lang="en-GB" sz="1800" dirty="0" err="1"/>
              <a:t>Haggar</a:t>
            </a:r>
            <a:r>
              <a:rPr lang="en-GB" sz="1800" dirty="0"/>
              <a:t>, J</a:t>
            </a:r>
            <a:r>
              <a:rPr lang="en-GB" sz="1800" dirty="0" smtClean="0"/>
              <a:t>. (2020). </a:t>
            </a:r>
            <a:r>
              <a:rPr lang="en-GB" sz="1800" dirty="0"/>
              <a:t>Adoption by adaptation: moving from </a:t>
            </a:r>
            <a:r>
              <a:rPr lang="en-GB" sz="1800" dirty="0" smtClean="0"/>
              <a:t>Conservation Agriculture </a:t>
            </a:r>
            <a:r>
              <a:rPr lang="en-GB" sz="1800" dirty="0"/>
              <a:t>to conservation practices. Int. J. Agric. Sustain. 1–19</a:t>
            </a:r>
            <a:r>
              <a:rPr lang="en-GB" sz="1800" dirty="0" smtClean="0"/>
              <a:t>.</a:t>
            </a:r>
          </a:p>
          <a:p>
            <a:r>
              <a:rPr lang="en-GB" sz="1900" dirty="0" smtClean="0"/>
              <a:t>Ninh</a:t>
            </a:r>
            <a:r>
              <a:rPr lang="en-GB" sz="1900" dirty="0"/>
              <a:t>, </a:t>
            </a:r>
            <a:r>
              <a:rPr lang="en-GB" sz="1900" dirty="0" smtClean="0"/>
              <a:t>L.K</a:t>
            </a:r>
            <a:r>
              <a:rPr lang="en-GB" sz="1900" dirty="0"/>
              <a:t>. (2021). Economic role of education in agriculture: Evidence from rural Vietnam. </a:t>
            </a:r>
            <a:r>
              <a:rPr lang="en-GB" sz="1900" i="1" dirty="0"/>
              <a:t>Journal of Economics and Development</a:t>
            </a:r>
            <a:r>
              <a:rPr lang="en-GB" sz="1900" dirty="0"/>
              <a:t>, 23(1), </a:t>
            </a:r>
            <a:r>
              <a:rPr lang="en-GB" sz="1900" dirty="0" smtClean="0"/>
              <a:t>47–58.</a:t>
            </a:r>
          </a:p>
          <a:p>
            <a:r>
              <a:rPr lang="en-GB" sz="2000" dirty="0" smtClean="0"/>
              <a:t>Wadud, A. &amp; White, B. </a:t>
            </a:r>
            <a:r>
              <a:rPr lang="en-GB" sz="2000" dirty="0"/>
              <a:t>(2000</a:t>
            </a:r>
            <a:r>
              <a:rPr lang="en-GB" sz="2000" dirty="0" smtClean="0"/>
              <a:t>). </a:t>
            </a:r>
            <a:r>
              <a:rPr lang="en-GB" sz="2000" dirty="0"/>
              <a:t>Farm household efficiency in Bangladesh: a comparison of stochastic frontier and DEA methods. Appl Econ 32(13):</a:t>
            </a:r>
            <a:r>
              <a:rPr lang="en-GB" sz="2000" dirty="0" smtClean="0"/>
              <a:t>1665–1673.</a:t>
            </a:r>
            <a:endParaRPr lang="en-GB" sz="1900" dirty="0"/>
          </a:p>
          <a:p>
            <a:endParaRPr lang="en-GB" sz="2000" dirty="0" smtClean="0"/>
          </a:p>
          <a:p>
            <a:endParaRPr lang="en-GB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13</a:t>
            </a:fld>
            <a:endParaRPr lang="en-GB" dirty="0"/>
          </a:p>
        </p:txBody>
      </p:sp>
      <p:sp>
        <p:nvSpPr>
          <p:cNvPr id="9" name="AutoShape 4" descr="data:image/svg+xml;base64,PD94bWwgdmVyc2lvbj0iMS4wIiBlbmNvZGluZz0idXRmLTgiPz48IURPQ1RZUEUgc3ZnIFBVQkxJQyAiLS8vVzNDLy9EVEQgU1ZHIDEuMS8vRU4iICJodHRwOi8vd3d3LnczLm9yZy9HcmFwaGljcy9TVkcvMS4xL0RURC9zdmcxMS5kdGQiPjxzdmcgdmVyc2lvbj0iMS4xIiBpZD0iRWJlbmVfMSIgeG1sbnM9Imh0dHA6Ly93d3cudzMub3JnLzIwMDAvc3ZnIiB4bWxuczp4bGluaz0iaHR0cDovL3d3dy53My5vcmcvMTk5OS94bGluayIgeD0iMHB4IiB5PSIwcHgiIHdpZHRoPSIxNnB4IiBoZWlnaHQ9IjE2cHgiIHZpZXdCb3g9IjAgMCAxNiAxNiIgZW5hYmxlLWJhY2tncm91bmQ9Im5ldyAwIDAgMTYgMTYiIHhtbDpzcGFjZT0icHJlc2VydmUiPjxnPjxnPjxwYXRoIGZpbGw9IiNGRkZGRkYiIGQ9Ik04LjAwMSwxNS41QzMuODY0LDE1LjUsMC41LDEyLjEzNiwwLjUsOGMwLTQuMTM1LDMuMzY1LTcuNSw3LjUwMS03LjVTMTUuNSwzLjg2NCwxNS41LDhTMTIuMTM3LDE1LjUsOC4wMDEsMTUuNXoiLz48cGF0aCBmaWxsPSIjRDUyQjFFIiBkPSJNOC4wMDEsMUMxMS44NiwxLDE1LDQuMTQxLDE1LDhzLTMuMTM5LDctNi45OTksN0M0LjE0LDE1LDEsMTEuODU5LDEsOFM0LjE0LDEsOC4wMDEsMSBNOC4wMDEsMEMzLjU4MiwwLDAsMy41ODIsMCw4czMuNTgyLDgsOC4wMDEsOEMxMi40MTgsMTYsMTYsMTIuNDE4LDE2LDhTMTIuNDE4LDAsOC4wMDEsMEw4LjAwMSwweiIvPjwvZz48cGF0aCBmaWxsPSIjRDUyQjFFIiBkPSJNNi43NDUsMTIuNTg5Yy0wLjIyNywwLjEyMi0wLjQ5NywwLjI0Ny0wLjY4NCwwLjI0N2MtMC4zMTgsMC0wLjUwMS0wLjE2NC0wLjUwMS0wLjQ1MmMwLTAuMjA3LDAuMTQtMC4zNzUsMC41OTUtMC42MjJjMS41NDktMC45MDQsMi41OTQtMi4yNzIsMi41OTQtMy43MjFjMC0wLjgyNS0wLjIyNy0xLjExOS0wLjY4MS0xLjExOWMtMC4xMzUsMC0wLjMyLDAuMjE5LTAuNjM2LDAuMjE5SDcuMTU3QzYuMTAyLDcuMTQzLDUuMzMzLDYuMjY0LDUuMzMzLDUuMjNjMC0xLjE1MiwwLjk1OC0yLjAwNiwyLjI4LTIuMDA2YzEuNzc3LDAsMy4wNTMsMS4zNzMsMy4wNTMsMy40M0MxMC42NjYsOS4yMTUsOS4yMDMsMTEuMjcsNi43NDUsMTIuNTg5Ii8+PC9nPjwvc3ZnPg"/>
          <p:cNvSpPr>
            <a:spLocks noChangeAspect="1" noChangeArrowheads="1"/>
          </p:cNvSpPr>
          <p:nvPr/>
        </p:nvSpPr>
        <p:spPr bwMode="auto">
          <a:xfrm>
            <a:off x="171481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80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618"/>
            <a:ext cx="10515600" cy="800288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  <a:cs typeface="Times New Roman" pitchFamily="18" charset="0"/>
              </a:rPr>
              <a:t>Acknowledgement</a:t>
            </a:r>
            <a:endParaRPr lang="en-GB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447" y="1039906"/>
            <a:ext cx="9767047" cy="51370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3200" dirty="0" smtClean="0"/>
          </a:p>
          <a:p>
            <a:pPr marL="2286000" lvl="5" indent="0" algn="ctr">
              <a:buNone/>
            </a:pPr>
            <a:endParaRPr lang="en-GB" sz="2000" dirty="0" smtClean="0"/>
          </a:p>
          <a:p>
            <a:pPr lvl="4" algn="ctr">
              <a:buFont typeface="Wingdings" panose="05000000000000000000" pitchFamily="2" charset="2"/>
              <a:buChar char="Ø"/>
            </a:pPr>
            <a:endParaRPr lang="en-GB" sz="2000" dirty="0" smtClean="0"/>
          </a:p>
          <a:p>
            <a:pPr algn="ctr">
              <a:buFont typeface="Wingdings" panose="05000000000000000000" pitchFamily="2" charset="2"/>
              <a:buChar char="Ø"/>
            </a:pPr>
            <a:endParaRPr lang="en-GB" sz="3200" dirty="0" smtClean="0"/>
          </a:p>
          <a:p>
            <a:pPr algn="ctr">
              <a:buFont typeface="Wingdings" panose="05000000000000000000" pitchFamily="2" charset="2"/>
              <a:buChar char="Ø"/>
            </a:pPr>
            <a:endParaRPr lang="en-GB" sz="3200" dirty="0"/>
          </a:p>
          <a:p>
            <a:pPr algn="ctr">
              <a:buFont typeface="Wingdings" panose="05000000000000000000" pitchFamily="2" charset="2"/>
              <a:buChar char="Ø"/>
            </a:pPr>
            <a:endParaRPr lang="en-GB" sz="3200" dirty="0" smtClean="0"/>
          </a:p>
          <a:p>
            <a:pPr marL="1828800" lvl="4" indent="0" algn="ctr">
              <a:buNone/>
            </a:pPr>
            <a:endParaRPr lang="en-GB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286" y="2816940"/>
            <a:ext cx="5531224" cy="1861926"/>
          </a:xfrm>
          <a:prstGeom prst="rect">
            <a:avLst/>
          </a:prstGeom>
        </p:spPr>
      </p:pic>
      <p:sp>
        <p:nvSpPr>
          <p:cNvPr id="7" name="AutoShape 4" descr="Partners - CIFOR"/>
          <p:cNvSpPr>
            <a:spLocks noChangeAspect="1" noChangeArrowheads="1"/>
          </p:cNvSpPr>
          <p:nvPr/>
        </p:nvSpPr>
        <p:spPr bwMode="auto">
          <a:xfrm>
            <a:off x="307975" y="-441325"/>
            <a:ext cx="370522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85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+mn-lt"/>
              </a:rPr>
              <a:t>Thank you very much for your attention</a:t>
            </a:r>
            <a:endParaRPr lang="en-GB" sz="4000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2EC7-D0D6-419A-ADD9-D66CC920F5E6}" type="slidenum">
              <a:rPr lang="en-GB" smtClean="0"/>
              <a:t>15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67" y="1465671"/>
            <a:ext cx="4919133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4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16792</TotalTime>
  <Words>1857</Words>
  <Application>Microsoft Office PowerPoint</Application>
  <PresentationFormat>Widescreen</PresentationFormat>
  <Paragraphs>345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  Farmer education, farm efficiency and agricultural productivity in Ghana: Is there a nexus? </vt:lpstr>
      <vt:lpstr>Outline</vt:lpstr>
      <vt:lpstr>Background</vt:lpstr>
      <vt:lpstr>Background cont’d</vt:lpstr>
      <vt:lpstr>Background cont’d</vt:lpstr>
      <vt:lpstr>Dataset</vt:lpstr>
      <vt:lpstr>Research Methodology</vt:lpstr>
      <vt:lpstr> Research Methodology </vt:lpstr>
      <vt:lpstr>Research Methodology</vt:lpstr>
      <vt:lpstr> Results and Discussion </vt:lpstr>
      <vt:lpstr>Results and Discussion</vt:lpstr>
      <vt:lpstr> Conclusions </vt:lpstr>
      <vt:lpstr>References</vt:lpstr>
      <vt:lpstr>Acknowledgement</vt:lpstr>
      <vt:lpstr>Thank you very much for your attention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Productive Capacity of Farm Households by Age in Ghana: Policy Implications for Food Security</dc:title>
  <dc:creator>490A</dc:creator>
  <cp:lastModifiedBy>490A</cp:lastModifiedBy>
  <cp:revision>345</cp:revision>
  <dcterms:created xsi:type="dcterms:W3CDTF">2021-12-05T23:32:06Z</dcterms:created>
  <dcterms:modified xsi:type="dcterms:W3CDTF">2023-12-15T13:10:47Z</dcterms:modified>
</cp:coreProperties>
</file>